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48" name="Shape 148"/>
          <p:cNvSpPr/>
          <p:nvPr>
            <p:ph type="sldImg"/>
          </p:nvPr>
        </p:nvSpPr>
        <p:spPr>
          <a:xfrm>
            <a:off x="1143000" y="685800"/>
            <a:ext cx="4572000" cy="3429000"/>
          </a:xfrm>
          <a:prstGeom prst="rect">
            <a:avLst/>
          </a:prstGeom>
        </p:spPr>
        <p:txBody>
          <a:bodyPr/>
          <a:lstStyle/>
          <a:p>
            <a:pPr/>
          </a:p>
        </p:txBody>
      </p:sp>
      <p:sp>
        <p:nvSpPr>
          <p:cNvPr id="149" name="Shape 14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Avocados and limes"/>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Bowl with salmon cakes, salad, and hummus"/>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Bowl of pappardelle pasta with parsley butter, roasted hazelnuts, and shaved parmesan cheese"/>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7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7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7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8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8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8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9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9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0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0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1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24" name="Bowl of salad with fried rice, boiled eggs, and chopsticks"/>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25" name="Bowl with salmon cakes, salad, and hummus "/>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26" name="Bowl of pappardelle pasta with parsley butter, roasted hazelnuts, and shaved parmesan chees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34" name="bowl of salad with fried rice, boiled eggs, and chopsticks"/>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3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defTabSz="584200">
              <a:defRPr sz="1800">
                <a:solidFill>
                  <a:srgbClr val="000000"/>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image" Target="../media/image2.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Victory Njoku (20087432), Muzzamil Aftab (20094751), Dhanush Muthyala (20096058), Mohammed Parvez (20096108)"/>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lvl1pPr defTabSz="457200">
              <a:defRPr b="0" sz="2566">
                <a:latin typeface="Arial"/>
                <a:ea typeface="Arial"/>
                <a:cs typeface="Arial"/>
                <a:sym typeface="Arial"/>
              </a:defRPr>
            </a:lvl1pPr>
          </a:lstStyle>
          <a:p>
            <a:pPr/>
            <a:r>
              <a:t>Victory Njoku (20087432), Muzzamil Aftab (20094751), Dhanush Muthyala (20096058), Mohammed Parvez (20096108)</a:t>
            </a:r>
          </a:p>
        </p:txBody>
      </p:sp>
      <p:sp>
        <p:nvSpPr>
          <p:cNvPr id="152" name="Comparing Different Companies’ Performances"/>
          <p:cNvSpPr txBox="1"/>
          <p:nvPr>
            <p:ph type="ctrTitle"/>
          </p:nvPr>
        </p:nvSpPr>
        <p:spPr>
          <a:prstGeom prst="rect">
            <a:avLst/>
          </a:prstGeom>
        </p:spPr>
        <p:txBody>
          <a:bodyPr/>
          <a:lstStyle>
            <a:lvl1pPr defTabSz="457200">
              <a:lnSpc>
                <a:spcPct val="100000"/>
              </a:lnSpc>
              <a:defRPr spc="0" sz="7566">
                <a:latin typeface="Arial"/>
                <a:ea typeface="Arial"/>
                <a:cs typeface="Arial"/>
                <a:sym typeface="Arial"/>
              </a:defRPr>
            </a:lvl1pPr>
          </a:lstStyle>
          <a:p>
            <a:pPr/>
            <a:r>
              <a:t>Comparing Different Companies’ Performances</a:t>
            </a:r>
          </a:p>
        </p:txBody>
      </p:sp>
      <p:sp>
        <p:nvSpPr>
          <p:cNvPr id="153" name="Financial and Business Analytics"/>
          <p:cNvSpPr txBox="1"/>
          <p:nvPr>
            <p:ph type="subTitle" sz="quarter" idx="1"/>
          </p:nvPr>
        </p:nvSpPr>
        <p:spPr>
          <a:prstGeom prst="rect">
            <a:avLst/>
          </a:prstGeom>
        </p:spPr>
        <p:txBody>
          <a:bodyPr/>
          <a:lstStyle>
            <a:lvl1pPr defTabSz="457200">
              <a:defRPr sz="4066">
                <a:latin typeface="Arial"/>
                <a:ea typeface="Arial"/>
                <a:cs typeface="Arial"/>
                <a:sym typeface="Arial"/>
              </a:defRPr>
            </a:lvl1pPr>
          </a:lstStyle>
          <a:p>
            <a:pPr/>
            <a:r>
              <a:t>Financial and Business Analytics</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 name="Introduction"/>
          <p:cNvSpPr txBox="1"/>
          <p:nvPr>
            <p:ph type="title"/>
          </p:nvPr>
        </p:nvSpPr>
        <p:spPr>
          <a:prstGeom prst="rect">
            <a:avLst/>
          </a:prstGeom>
        </p:spPr>
        <p:txBody>
          <a:bodyPr/>
          <a:lstStyle/>
          <a:p>
            <a:pPr/>
            <a:r>
              <a:t>Introduction</a:t>
            </a:r>
          </a:p>
        </p:txBody>
      </p:sp>
      <p:sp>
        <p:nvSpPr>
          <p:cNvPr id="156" name="In this report we will be exploring Tesco plc and Loblaw Companies ltd for Executive Board of Directors of Wood’s Plc…"/>
          <p:cNvSpPr txBox="1"/>
          <p:nvPr>
            <p:ph type="body" idx="1"/>
          </p:nvPr>
        </p:nvSpPr>
        <p:spPr>
          <a:xfrm>
            <a:off x="883533" y="3118120"/>
            <a:ext cx="21971001" cy="8256012"/>
          </a:xfrm>
          <a:prstGeom prst="rect">
            <a:avLst/>
          </a:prstGeom>
        </p:spPr>
        <p:txBody>
          <a:bodyPr/>
          <a:lstStyle/>
          <a:p>
            <a:pPr/>
            <a:r>
              <a:t>In this report we will be exploring Tesco plc and Loblaw Companies ltd for Executive Board of Directors of Wood’s Plc</a:t>
            </a:r>
          </a:p>
          <a:p>
            <a:pPr/>
            <a:r>
              <a:t>Analysis will be performed using manual calculations as well as AI-Generated calculation (Claude AI)</a:t>
            </a:r>
          </a:p>
          <a:p>
            <a:pPr/>
            <a:r>
              <a:t>These are both similar companies that operate in the grocery retail industry</a:t>
            </a:r>
          </a:p>
          <a:p>
            <a:pPr/>
            <a:r>
              <a:t>Our recommendation at Platinum Consultants plc is that Wood Plc should invest in Tesco Plc</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8" name="Company Overview"/>
          <p:cNvSpPr txBox="1"/>
          <p:nvPr>
            <p:ph type="title"/>
          </p:nvPr>
        </p:nvSpPr>
        <p:spPr>
          <a:prstGeom prst="rect">
            <a:avLst/>
          </a:prstGeom>
        </p:spPr>
        <p:txBody>
          <a:bodyPr/>
          <a:lstStyle/>
          <a:p>
            <a:pPr/>
            <a:r>
              <a:t>Company Overview</a:t>
            </a:r>
          </a:p>
        </p:txBody>
      </p:sp>
      <p:sp>
        <p:nvSpPr>
          <p:cNvPr id="159" name="Tesco plc"/>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Tesco plc</a:t>
            </a:r>
          </a:p>
        </p:txBody>
      </p:sp>
      <p:sp>
        <p:nvSpPr>
          <p:cNvPr id="160" name="Tesco Plc is one of the biggest food retailers and largest supermarket chain in the UK…"/>
          <p:cNvSpPr txBox="1"/>
          <p:nvPr>
            <p:ph type="body" idx="1"/>
          </p:nvPr>
        </p:nvSpPr>
        <p:spPr>
          <a:prstGeom prst="rect">
            <a:avLst/>
          </a:prstGeom>
        </p:spPr>
        <p:txBody>
          <a:bodyPr/>
          <a:lstStyle/>
          <a:p>
            <a:pPr marL="186266" indent="-186266" defTabSz="457200"/>
            <a:r>
              <a:t> Tesco Plc is one of the biggest food retailers and largest supermarket chain in the UK</a:t>
            </a:r>
          </a:p>
          <a:p>
            <a:pPr marL="186266" indent="-186266" defTabSz="457200"/>
            <a:r>
              <a:t> Tesco has supermarket chains, convenience stores, and online shops operating in the United Kingdom, Ireland, and Central Europe</a:t>
            </a:r>
          </a:p>
          <a:p>
            <a:pPr marL="186266" indent="-186266" defTabSz="457200"/>
            <a:r>
              <a:t> Tesco trades in the London Stock exchange</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2" name="Company Overview"/>
          <p:cNvSpPr txBox="1"/>
          <p:nvPr>
            <p:ph type="title"/>
          </p:nvPr>
        </p:nvSpPr>
        <p:spPr>
          <a:prstGeom prst="rect">
            <a:avLst/>
          </a:prstGeom>
        </p:spPr>
        <p:txBody>
          <a:bodyPr/>
          <a:lstStyle/>
          <a:p>
            <a:pPr/>
            <a:r>
              <a:t>Company Overview</a:t>
            </a:r>
          </a:p>
        </p:txBody>
      </p:sp>
      <p:sp>
        <p:nvSpPr>
          <p:cNvPr id="163" name="Loblaw Ltd."/>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Loblaw Ltd.</a:t>
            </a:r>
          </a:p>
        </p:txBody>
      </p:sp>
      <p:sp>
        <p:nvSpPr>
          <p:cNvPr id="164" name="Loblaw Companies Limited is the largest retailer of food and pharmacy products in Canada…"/>
          <p:cNvSpPr txBox="1"/>
          <p:nvPr>
            <p:ph type="body" idx="1"/>
          </p:nvPr>
        </p:nvSpPr>
        <p:spPr>
          <a:prstGeom prst="rect">
            <a:avLst/>
          </a:prstGeom>
        </p:spPr>
        <p:txBody>
          <a:bodyPr/>
          <a:lstStyle/>
          <a:p>
            <a:pPr defTabSz="457200"/>
            <a:r>
              <a:t>Loblaw Companies Limited is the largest retailer of food and pharmacy products in Canada</a:t>
            </a:r>
          </a:p>
          <a:p>
            <a:pPr defTabSz="457200"/>
            <a:r>
              <a:t>Loblaw has a vast network of supermarkets, pharmacies, and retail stores under several popular brands</a:t>
            </a:r>
          </a:p>
          <a:p>
            <a:pPr/>
            <a:r>
              <a:t>Loblaw trades in the Toronto Stock Exchange</a:t>
            </a:r>
          </a:p>
          <a:p>
            <a:pPr/>
            <a:r>
              <a:t>Loblaw also offers pharmacy services, health care products, fashion clothing, and financial services via PC Financial.</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6" name="Financial Performance Overview"/>
          <p:cNvSpPr txBox="1"/>
          <p:nvPr>
            <p:ph type="title"/>
          </p:nvPr>
        </p:nvSpPr>
        <p:spPr>
          <a:prstGeom prst="rect">
            <a:avLst/>
          </a:prstGeom>
        </p:spPr>
        <p:txBody>
          <a:bodyPr/>
          <a:lstStyle/>
          <a:p>
            <a:pPr/>
            <a:r>
              <a:t>Financial Performance Overview</a:t>
            </a:r>
          </a:p>
        </p:txBody>
      </p:sp>
      <p:sp>
        <p:nvSpPr>
          <p:cNvPr id="167" name="Tesco Plc"/>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Tesco Plc</a:t>
            </a:r>
          </a:p>
        </p:txBody>
      </p:sp>
      <p:sp>
        <p:nvSpPr>
          <p:cNvPr id="168" name="Tesco had a ROCE of 21.12% in…"/>
          <p:cNvSpPr txBox="1"/>
          <p:nvPr>
            <p:ph type="body" idx="1"/>
          </p:nvPr>
        </p:nvSpPr>
        <p:spPr>
          <a:prstGeom prst="rect">
            <a:avLst/>
          </a:prstGeom>
        </p:spPr>
        <p:txBody>
          <a:bodyPr/>
          <a:lstStyle/>
          <a:p>
            <a:pPr marL="536447" indent="-536447" defTabSz="2145738">
              <a:spcBef>
                <a:spcPts val="3900"/>
              </a:spcBef>
              <a:defRPr sz="4224"/>
            </a:pPr>
            <a:r>
              <a:t>Tesco had a ROCE of 21.12% in </a:t>
            </a:r>
          </a:p>
          <a:p>
            <a:pPr marL="0" indent="0" defTabSz="2145738">
              <a:spcBef>
                <a:spcPts val="3900"/>
              </a:spcBef>
              <a:buSzTx/>
              <a:buNone/>
              <a:defRPr sz="4224"/>
            </a:pPr>
            <a:r>
              <a:t>2023, 36.17% in 2024 and 40.47% </a:t>
            </a:r>
          </a:p>
          <a:p>
            <a:pPr marL="0" indent="0" defTabSz="2145738">
              <a:spcBef>
                <a:spcPts val="3900"/>
              </a:spcBef>
              <a:buSzTx/>
              <a:buNone/>
              <a:defRPr sz="4224"/>
            </a:pPr>
            <a:r>
              <a:t>in 2025</a:t>
            </a:r>
          </a:p>
          <a:p>
            <a:pPr marL="536447" indent="-536447" defTabSz="2145738">
              <a:spcBef>
                <a:spcPts val="3900"/>
              </a:spcBef>
              <a:defRPr sz="4224"/>
            </a:pPr>
            <a:r>
              <a:t>Tesco had a ROA of 2.17% in</a:t>
            </a:r>
          </a:p>
          <a:p>
            <a:pPr marL="0" indent="0" defTabSz="2145738">
              <a:spcBef>
                <a:spcPts val="3900"/>
              </a:spcBef>
              <a:buSzTx/>
              <a:buNone/>
              <a:defRPr sz="4224"/>
            </a:pPr>
            <a:r>
              <a:t>2023, 4.87% and 5.70% in 2025</a:t>
            </a:r>
          </a:p>
          <a:p>
            <a:pPr marL="536447" indent="-536447" defTabSz="2145738">
              <a:spcBef>
                <a:spcPts val="3900"/>
              </a:spcBef>
              <a:defRPr sz="4224"/>
            </a:pPr>
            <a:r>
              <a:t>Tesco had a ROE of 25.30% in </a:t>
            </a:r>
          </a:p>
          <a:p>
            <a:pPr marL="0" indent="0" defTabSz="2145738">
              <a:spcBef>
                <a:spcPts val="3900"/>
              </a:spcBef>
              <a:buSzTx/>
              <a:buNone/>
              <a:defRPr sz="4224"/>
            </a:pPr>
            <a:r>
              <a:t>2023, 67.82% in 2024 and 65.90% </a:t>
            </a:r>
          </a:p>
          <a:p>
            <a:pPr marL="0" indent="0" defTabSz="2145738">
              <a:spcBef>
                <a:spcPts val="3900"/>
              </a:spcBef>
              <a:buSzTx/>
              <a:buNone/>
              <a:defRPr sz="4224"/>
            </a:pPr>
            <a:r>
              <a:t>in 2025  </a:t>
            </a:r>
          </a:p>
        </p:txBody>
      </p:sp>
      <p:graphicFrame>
        <p:nvGraphicFramePr>
          <p:cNvPr id="169" name="Table"/>
          <p:cNvGraphicFramePr/>
          <p:nvPr/>
        </p:nvGraphicFramePr>
        <p:xfrm>
          <a:off x="12192000" y="4249511"/>
          <a:ext cx="10985500" cy="8256011"/>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2743200"/>
                <a:gridCol w="2743200"/>
                <a:gridCol w="2743200"/>
                <a:gridCol w="2743200"/>
              </a:tblGrid>
              <a:tr h="1648662">
                <a:tc>
                  <a:txBody>
                    <a:bodyPr/>
                    <a:lstStyle/>
                    <a:p>
                      <a:pPr defTabSz="914400">
                        <a:tabLst>
                          <a:tab pos="1663700" algn="l"/>
                        </a:tabLst>
                        <a:defRPr b="0"/>
                      </a:pPr>
                      <a:r>
                        <a:rPr b="1" sz="3200"/>
                        <a:t>Key Measures</a:t>
                      </a:r>
                    </a:p>
                  </a:txBody>
                  <a:tcPr marL="50800" marR="50800" marT="50800" marB="50800" anchor="ctr" anchorCtr="0" horzOverflow="overflow"/>
                </a:tc>
                <a:tc>
                  <a:txBody>
                    <a:bodyPr/>
                    <a:lstStyle/>
                    <a:p>
                      <a:pPr defTabSz="914400">
                        <a:tabLst>
                          <a:tab pos="1663700" algn="l"/>
                        </a:tabLst>
                        <a:defRPr sz="3200"/>
                      </a:pPr>
                      <a:r>
                        <a:t>2023 </a:t>
                      </a:r>
                      <a:r>
                        <a:rPr b="0"/>
                        <a:t>(£m)</a:t>
                      </a:r>
                    </a:p>
                  </a:txBody>
                  <a:tcPr marL="50800" marR="50800" marT="50800" marB="50800" anchor="ctr" anchorCtr="0" horzOverflow="overflow"/>
                </a:tc>
                <a:tc>
                  <a:txBody>
                    <a:bodyPr/>
                    <a:lstStyle/>
                    <a:p>
                      <a:pPr defTabSz="914400">
                        <a:tabLst>
                          <a:tab pos="1663700" algn="l"/>
                        </a:tabLst>
                        <a:defRPr sz="3200"/>
                      </a:pPr>
                      <a:r>
                        <a:t>2024 </a:t>
                      </a:r>
                      <a:r>
                        <a:rPr b="0"/>
                        <a:t>(£m)</a:t>
                      </a:r>
                    </a:p>
                  </a:txBody>
                  <a:tcPr marL="50800" marR="50800" marT="50800" marB="50800" anchor="ctr" anchorCtr="0" horzOverflow="overflow"/>
                </a:tc>
                <a:tc>
                  <a:txBody>
                    <a:bodyPr/>
                    <a:lstStyle/>
                    <a:p>
                      <a:pPr defTabSz="914400">
                        <a:tabLst>
                          <a:tab pos="1663700" algn="l"/>
                        </a:tabLst>
                        <a:defRPr sz="3200"/>
                      </a:pPr>
                      <a:r>
                        <a:t>2025 </a:t>
                      </a:r>
                      <a:r>
                        <a:rPr b="0"/>
                        <a:t>(£m)</a:t>
                      </a:r>
                    </a:p>
                  </a:txBody>
                  <a:tcPr marL="50800" marR="50800" marT="50800" marB="50800" anchor="ctr" anchorCtr="0" horzOverflow="overflow"/>
                </a:tc>
              </a:tr>
              <a:tr h="1648662">
                <a:tc>
                  <a:txBody>
                    <a:bodyPr/>
                    <a:lstStyle/>
                    <a:p>
                      <a:pPr defTabSz="914400"/>
                      <a:r>
                        <a:rPr sz="3200"/>
                        <a:t>Revenue</a:t>
                      </a:r>
                    </a:p>
                  </a:txBody>
                  <a:tcPr marL="50800" marR="50800" marT="50800" marB="50800" anchor="ctr" anchorCtr="0" horzOverflow="overflow"/>
                </a:tc>
                <a:tc>
                  <a:txBody>
                    <a:bodyPr/>
                    <a:lstStyle/>
                    <a:p>
                      <a:pPr defTabSz="914400"/>
                      <a:r>
                        <a:rPr sz="3200"/>
                        <a:t>65,762</a:t>
                      </a:r>
                    </a:p>
                  </a:txBody>
                  <a:tcPr marL="50800" marR="50800" marT="50800" marB="50800" anchor="ctr" anchorCtr="0" horzOverflow="overflow"/>
                </a:tc>
                <a:tc>
                  <a:txBody>
                    <a:bodyPr/>
                    <a:lstStyle/>
                    <a:p>
                      <a:pPr defTabSz="914400"/>
                      <a:r>
                        <a:rPr sz="3200"/>
                        <a:t>68,187</a:t>
                      </a:r>
                    </a:p>
                  </a:txBody>
                  <a:tcPr marL="50800" marR="50800" marT="50800" marB="50800" anchor="ctr" anchorCtr="0" horzOverflow="overflow"/>
                </a:tc>
                <a:tc>
                  <a:txBody>
                    <a:bodyPr/>
                    <a:lstStyle/>
                    <a:p>
                      <a:pPr defTabSz="914400"/>
                      <a:r>
                        <a:rPr sz="3200"/>
                        <a:t>69,916</a:t>
                      </a:r>
                    </a:p>
                  </a:txBody>
                  <a:tcPr marL="50800" marR="50800" marT="50800" marB="50800" anchor="ctr" anchorCtr="0" horzOverflow="overflow"/>
                </a:tc>
              </a:tr>
              <a:tr h="1648662">
                <a:tc>
                  <a:txBody>
                    <a:bodyPr/>
                    <a:lstStyle/>
                    <a:p>
                      <a:pPr defTabSz="914400"/>
                      <a:r>
                        <a:rPr sz="3200"/>
                        <a:t>Gross Profit</a:t>
                      </a:r>
                    </a:p>
                  </a:txBody>
                  <a:tcPr marL="50800" marR="50800" marT="50800" marB="50800" anchor="ctr" anchorCtr="0" horzOverflow="overflow"/>
                </a:tc>
                <a:tc>
                  <a:txBody>
                    <a:bodyPr/>
                    <a:lstStyle/>
                    <a:p>
                      <a:pPr defTabSz="914400"/>
                      <a:r>
                        <a:rPr sz="3200"/>
                        <a:t>3,661</a:t>
                      </a:r>
                    </a:p>
                  </a:txBody>
                  <a:tcPr marL="50800" marR="50800" marT="50800" marB="50800" anchor="ctr" anchorCtr="0" horzOverflow="overflow"/>
                </a:tc>
                <a:tc>
                  <a:txBody>
                    <a:bodyPr/>
                    <a:lstStyle/>
                    <a:p>
                      <a:pPr defTabSz="914400"/>
                      <a:r>
                        <a:rPr sz="3200"/>
                        <a:t>4,849</a:t>
                      </a:r>
                    </a:p>
                  </a:txBody>
                  <a:tcPr marL="50800" marR="50800" marT="50800" marB="50800" anchor="ctr" anchorCtr="0" horzOverflow="overflow"/>
                </a:tc>
                <a:tc>
                  <a:txBody>
                    <a:bodyPr/>
                    <a:lstStyle/>
                    <a:p>
                      <a:pPr defTabSz="914400"/>
                      <a:r>
                        <a:rPr sz="3200"/>
                        <a:t>5,051</a:t>
                      </a:r>
                    </a:p>
                  </a:txBody>
                  <a:tcPr marL="50800" marR="50800" marT="50800" marB="50800" anchor="ctr" anchorCtr="0" horzOverflow="overflow"/>
                </a:tc>
              </a:tr>
              <a:tr h="1648662">
                <a:tc>
                  <a:txBody>
                    <a:bodyPr/>
                    <a:lstStyle/>
                    <a:p>
                      <a:pPr defTabSz="914400"/>
                      <a:r>
                        <a:rPr sz="3200"/>
                        <a:t>Operating Profit</a:t>
                      </a:r>
                    </a:p>
                  </a:txBody>
                  <a:tcPr marL="50800" marR="50800" marT="50800" marB="50800" anchor="ctr" anchorCtr="0" horzOverflow="overflow"/>
                </a:tc>
                <a:tc>
                  <a:txBody>
                    <a:bodyPr/>
                    <a:lstStyle/>
                    <a:p>
                      <a:pPr defTabSz="914400"/>
                      <a:r>
                        <a:rPr sz="3200"/>
                        <a:t>1525</a:t>
                      </a:r>
                    </a:p>
                  </a:txBody>
                  <a:tcPr marL="50800" marR="50800" marT="50800" marB="50800" anchor="ctr" anchorCtr="0" horzOverflow="overflow"/>
                </a:tc>
                <a:tc>
                  <a:txBody>
                    <a:bodyPr/>
                    <a:lstStyle/>
                    <a:p>
                      <a:pPr defTabSz="914400"/>
                      <a:r>
                        <a:rPr sz="3200"/>
                        <a:t>2821</a:t>
                      </a:r>
                    </a:p>
                  </a:txBody>
                  <a:tcPr marL="50800" marR="50800" marT="50800" marB="50800" anchor="ctr" anchorCtr="0" horzOverflow="overflow"/>
                </a:tc>
                <a:tc>
                  <a:txBody>
                    <a:bodyPr/>
                    <a:lstStyle/>
                    <a:p>
                      <a:pPr defTabSz="914400"/>
                      <a:r>
                        <a:rPr sz="3200"/>
                        <a:t>2711</a:t>
                      </a:r>
                    </a:p>
                  </a:txBody>
                  <a:tcPr marL="50800" marR="50800" marT="50800" marB="50800" anchor="ctr" anchorCtr="0" horzOverflow="overflow"/>
                </a:tc>
              </a:tr>
              <a:tr h="1648662">
                <a:tc>
                  <a:txBody>
                    <a:bodyPr/>
                    <a:lstStyle/>
                    <a:p>
                      <a:pPr defTabSz="914400"/>
                      <a:r>
                        <a:rPr sz="3200"/>
                        <a:t>Net profit</a:t>
                      </a:r>
                    </a:p>
                  </a:txBody>
                  <a:tcPr marL="50800" marR="50800" marT="50800" marB="50800" anchor="ctr" anchorCtr="0" horzOverflow="overflow"/>
                </a:tc>
                <a:tc>
                  <a:txBody>
                    <a:bodyPr/>
                    <a:lstStyle/>
                    <a:p>
                      <a:pPr defTabSz="914400"/>
                      <a:r>
                        <a:rPr sz="3200"/>
                        <a:t>744</a:t>
                      </a:r>
                    </a:p>
                  </a:txBody>
                  <a:tcPr marL="50800" marR="50800" marT="50800" marB="50800" anchor="ctr" anchorCtr="0" horzOverflow="overflow"/>
                </a:tc>
                <a:tc>
                  <a:txBody>
                    <a:bodyPr/>
                    <a:lstStyle/>
                    <a:p>
                      <a:pPr defTabSz="914400"/>
                      <a:r>
                        <a:rPr sz="3200"/>
                        <a:t>1,192</a:t>
                      </a:r>
                    </a:p>
                  </a:txBody>
                  <a:tcPr marL="50800" marR="50800" marT="50800" marB="50800" anchor="ctr" anchorCtr="0" horzOverflow="overflow"/>
                </a:tc>
                <a:tc>
                  <a:txBody>
                    <a:bodyPr/>
                    <a:lstStyle/>
                    <a:p>
                      <a:pPr defTabSz="914400"/>
                      <a:r>
                        <a:rPr sz="3200"/>
                        <a:t>1,630</a:t>
                      </a:r>
                    </a:p>
                  </a:txBody>
                  <a:tcPr marL="50800" marR="50800" marT="50800" marB="50800" anchor="ctr" anchorCtr="0" horzOverflow="overflow"/>
                </a:tc>
              </a:tr>
            </a:tbl>
          </a:graphicData>
        </a:graphic>
      </p:graphicFrame>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Financial Performance Overview"/>
          <p:cNvSpPr txBox="1"/>
          <p:nvPr>
            <p:ph type="title"/>
          </p:nvPr>
        </p:nvSpPr>
        <p:spPr>
          <a:prstGeom prst="rect">
            <a:avLst/>
          </a:prstGeom>
        </p:spPr>
        <p:txBody>
          <a:bodyPr/>
          <a:lstStyle/>
          <a:p>
            <a:pPr/>
            <a:r>
              <a:t>Financial Performance Overview</a:t>
            </a:r>
          </a:p>
        </p:txBody>
      </p:sp>
      <p:sp>
        <p:nvSpPr>
          <p:cNvPr id="172" name="Loblaw Ltd."/>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Loblaw Ltd.</a:t>
            </a:r>
          </a:p>
        </p:txBody>
      </p:sp>
      <p:sp>
        <p:nvSpPr>
          <p:cNvPr id="173" name="Loblaw had a ROCE of 12.05% in…"/>
          <p:cNvSpPr txBox="1"/>
          <p:nvPr>
            <p:ph type="body" idx="1"/>
          </p:nvPr>
        </p:nvSpPr>
        <p:spPr>
          <a:prstGeom prst="rect">
            <a:avLst/>
          </a:prstGeom>
        </p:spPr>
        <p:txBody>
          <a:bodyPr/>
          <a:lstStyle/>
          <a:p>
            <a:pPr marL="536447" indent="-536447" defTabSz="2145738">
              <a:spcBef>
                <a:spcPts val="3900"/>
              </a:spcBef>
              <a:defRPr sz="4224"/>
            </a:pPr>
            <a:r>
              <a:t>Loblaw had a ROCE of 12.05% in </a:t>
            </a:r>
          </a:p>
          <a:p>
            <a:pPr marL="0" indent="0" defTabSz="2145738">
              <a:spcBef>
                <a:spcPts val="3900"/>
              </a:spcBef>
              <a:buSzTx/>
              <a:buNone/>
              <a:defRPr sz="4224"/>
            </a:pPr>
            <a:r>
              <a:t>2023, 11.93% in 2024 and 17.62% in </a:t>
            </a:r>
          </a:p>
          <a:p>
            <a:pPr marL="0" indent="0" defTabSz="2145738">
              <a:spcBef>
                <a:spcPts val="3900"/>
              </a:spcBef>
              <a:buSzTx/>
              <a:buNone/>
              <a:defRPr sz="4224"/>
            </a:pPr>
            <a:r>
              <a:t>2025</a:t>
            </a:r>
          </a:p>
          <a:p>
            <a:pPr marL="536447" indent="-536447" defTabSz="2145738">
              <a:spcBef>
                <a:spcPts val="3900"/>
              </a:spcBef>
              <a:defRPr sz="4224"/>
            </a:pPr>
            <a:r>
              <a:t>Loblaw had a ROA of 6.98% in </a:t>
            </a:r>
          </a:p>
          <a:p>
            <a:pPr marL="0" indent="0" defTabSz="2145738">
              <a:spcBef>
                <a:spcPts val="3900"/>
              </a:spcBef>
              <a:buSzTx/>
              <a:buNone/>
              <a:defRPr sz="4224"/>
            </a:pPr>
            <a:r>
              <a:t>2023, 6.83% and 9.45% in 2025</a:t>
            </a:r>
          </a:p>
          <a:p>
            <a:pPr marL="536447" indent="-536447" defTabSz="2145738">
              <a:spcBef>
                <a:spcPts val="3900"/>
              </a:spcBef>
              <a:defRPr sz="4224"/>
            </a:pPr>
            <a:r>
              <a:t>Loblaw had a ROE of 25.69% in </a:t>
            </a:r>
          </a:p>
          <a:p>
            <a:pPr marL="0" indent="0" defTabSz="2145738">
              <a:spcBef>
                <a:spcPts val="3900"/>
              </a:spcBef>
              <a:buSzTx/>
              <a:buNone/>
              <a:defRPr sz="4224"/>
            </a:pPr>
            <a:r>
              <a:t>2023, 25.50% in 2024 and 33.85% </a:t>
            </a:r>
          </a:p>
          <a:p>
            <a:pPr marL="0" indent="0" defTabSz="2145738">
              <a:spcBef>
                <a:spcPts val="3900"/>
              </a:spcBef>
              <a:buSzTx/>
              <a:buNone/>
              <a:defRPr sz="4224"/>
            </a:pPr>
            <a:r>
              <a:t>in 2025  </a:t>
            </a:r>
          </a:p>
        </p:txBody>
      </p:sp>
      <p:graphicFrame>
        <p:nvGraphicFramePr>
          <p:cNvPr id="174" name="Table"/>
          <p:cNvGraphicFramePr/>
          <p:nvPr/>
        </p:nvGraphicFramePr>
        <p:xfrm>
          <a:off x="12192000" y="4249511"/>
          <a:ext cx="10985500" cy="825601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743200"/>
                <a:gridCol w="2743200"/>
                <a:gridCol w="2743200"/>
                <a:gridCol w="2743200"/>
              </a:tblGrid>
              <a:tr h="1648662">
                <a:tc>
                  <a:txBody>
                    <a:bodyPr/>
                    <a:lstStyle/>
                    <a:p>
                      <a:pPr defTabSz="914400"/>
                      <a:r>
                        <a:rPr b="1" sz="3200"/>
                        <a:t>Key Measures</a:t>
                      </a:r>
                    </a:p>
                  </a:txBody>
                  <a:tcPr marL="50800" marR="50800" marT="50800" marB="50800" anchor="ctr" anchorCtr="0" horzOverflow="overflow"/>
                </a:tc>
                <a:tc>
                  <a:txBody>
                    <a:bodyPr/>
                    <a:lstStyle/>
                    <a:p>
                      <a:pPr defTabSz="914400">
                        <a:defRPr sz="3200"/>
                      </a:pPr>
                      <a:r>
                        <a:rPr b="1"/>
                        <a:t>2023</a:t>
                      </a:r>
                      <a:r>
                        <a:t> (C$m)</a:t>
                      </a:r>
                    </a:p>
                  </a:txBody>
                  <a:tcPr marL="50800" marR="50800" marT="50800" marB="50800" anchor="ctr" anchorCtr="0" horzOverflow="overflow"/>
                </a:tc>
                <a:tc>
                  <a:txBody>
                    <a:bodyPr/>
                    <a:lstStyle/>
                    <a:p>
                      <a:pPr defTabSz="914400">
                        <a:defRPr sz="3200"/>
                      </a:pPr>
                      <a:r>
                        <a:rPr b="1"/>
                        <a:t>2024</a:t>
                      </a:r>
                      <a:r>
                        <a:t> (C$m)</a:t>
                      </a:r>
                    </a:p>
                  </a:txBody>
                  <a:tcPr marL="50800" marR="50800" marT="50800" marB="50800" anchor="ctr" anchorCtr="0" horzOverflow="overflow"/>
                </a:tc>
                <a:tc>
                  <a:txBody>
                    <a:bodyPr/>
                    <a:lstStyle/>
                    <a:p>
                      <a:pPr defTabSz="914400">
                        <a:defRPr sz="3200"/>
                      </a:pPr>
                      <a:r>
                        <a:rPr b="1"/>
                        <a:t>2025</a:t>
                      </a:r>
                      <a:r>
                        <a:t> (C$m)</a:t>
                      </a:r>
                    </a:p>
                  </a:txBody>
                  <a:tcPr marL="50800" marR="50800" marT="50800" marB="50800" anchor="ctr" anchorCtr="0" horzOverflow="overflow"/>
                </a:tc>
              </a:tr>
              <a:tr h="1648662">
                <a:tc>
                  <a:txBody>
                    <a:bodyPr/>
                    <a:lstStyle/>
                    <a:p>
                      <a:pPr defTabSz="914400"/>
                      <a:r>
                        <a:rPr sz="3200"/>
                        <a:t>Revenue</a:t>
                      </a:r>
                    </a:p>
                  </a:txBody>
                  <a:tcPr marL="50800" marR="50800" marT="50800" marB="50800" anchor="ctr" anchorCtr="0" horzOverflow="overflow"/>
                </a:tc>
                <a:tc>
                  <a:txBody>
                    <a:bodyPr/>
                    <a:lstStyle/>
                    <a:p>
                      <a:pPr defTabSz="914400"/>
                      <a:r>
                        <a:rPr sz="3200"/>
                        <a:t>58,345</a:t>
                      </a:r>
                    </a:p>
                  </a:txBody>
                  <a:tcPr marL="50800" marR="50800" marT="50800" marB="50800" anchor="ctr" anchorCtr="0" horzOverflow="overflow"/>
                </a:tc>
                <a:tc>
                  <a:txBody>
                    <a:bodyPr/>
                    <a:lstStyle/>
                    <a:p>
                      <a:pPr defTabSz="914400"/>
                      <a:r>
                        <a:rPr sz="3200"/>
                        <a:t>60,123</a:t>
                      </a:r>
                    </a:p>
                  </a:txBody>
                  <a:tcPr marL="50800" marR="50800" marT="50800" marB="50800" anchor="ctr" anchorCtr="0" horzOverflow="overflow"/>
                </a:tc>
                <a:tc>
                  <a:txBody>
                    <a:bodyPr/>
                    <a:lstStyle/>
                    <a:p>
                      <a:pPr defTabSz="914400"/>
                      <a:r>
                        <a:rPr sz="3200"/>
                        <a:t>63,903</a:t>
                      </a:r>
                    </a:p>
                  </a:txBody>
                  <a:tcPr marL="50800" marR="50800" marT="50800" marB="50800" anchor="ctr" anchorCtr="0" horzOverflow="overflow"/>
                </a:tc>
              </a:tr>
              <a:tr h="1648662">
                <a:tc>
                  <a:txBody>
                    <a:bodyPr/>
                    <a:lstStyle/>
                    <a:p>
                      <a:pPr defTabSz="914400"/>
                      <a:r>
                        <a:rPr sz="3200"/>
                        <a:t>Gross profit</a:t>
                      </a:r>
                    </a:p>
                  </a:txBody>
                  <a:tcPr marL="50800" marR="50800" marT="50800" marB="50800" anchor="ctr" anchorCtr="0" horzOverflow="overflow"/>
                </a:tc>
                <a:tc>
                  <a:txBody>
                    <a:bodyPr/>
                    <a:lstStyle/>
                    <a:p>
                      <a:pPr defTabSz="914400"/>
                      <a:r>
                        <a:rPr sz="3200"/>
                        <a:t>18,083</a:t>
                      </a:r>
                    </a:p>
                  </a:txBody>
                  <a:tcPr marL="50800" marR="50800" marT="50800" marB="50800" anchor="ctr" anchorCtr="0" horzOverflow="overflow"/>
                </a:tc>
                <a:tc>
                  <a:txBody>
                    <a:bodyPr/>
                    <a:lstStyle/>
                    <a:p>
                      <a:pPr defTabSz="914400"/>
                      <a:r>
                        <a:rPr sz="3200"/>
                        <a:t>18,835</a:t>
                      </a:r>
                    </a:p>
                  </a:txBody>
                  <a:tcPr marL="50800" marR="50800" marT="50800" marB="50800" anchor="ctr" anchorCtr="0" horzOverflow="overflow"/>
                </a:tc>
                <a:tc>
                  <a:txBody>
                    <a:bodyPr/>
                    <a:lstStyle/>
                    <a:p>
                      <a:pPr defTabSz="914400"/>
                      <a:r>
                        <a:rPr sz="3200"/>
                        <a:t>20,032</a:t>
                      </a:r>
                    </a:p>
                  </a:txBody>
                  <a:tcPr marL="50800" marR="50800" marT="50800" marB="50800" anchor="ctr" anchorCtr="0" horzOverflow="overflow"/>
                </a:tc>
              </a:tr>
              <a:tr h="1648662">
                <a:tc>
                  <a:txBody>
                    <a:bodyPr/>
                    <a:lstStyle/>
                    <a:p>
                      <a:pPr defTabSz="914400"/>
                      <a:r>
                        <a:rPr sz="3200"/>
                        <a:t>Operating Profit</a:t>
                      </a:r>
                    </a:p>
                  </a:txBody>
                  <a:tcPr marL="50800" marR="50800" marT="50800" marB="50800" anchor="ctr" anchorCtr="0" horzOverflow="overflow"/>
                </a:tc>
                <a:tc>
                  <a:txBody>
                    <a:bodyPr/>
                    <a:lstStyle/>
                    <a:p>
                      <a:pPr defTabSz="914400"/>
                      <a:r>
                        <a:rPr sz="3200"/>
                        <a:t>3704</a:t>
                      </a:r>
                    </a:p>
                  </a:txBody>
                  <a:tcPr marL="50800" marR="50800" marT="50800" marB="50800" anchor="ctr" anchorCtr="0" horzOverflow="overflow"/>
                </a:tc>
                <a:tc>
                  <a:txBody>
                    <a:bodyPr/>
                    <a:lstStyle/>
                    <a:p>
                      <a:pPr defTabSz="914400"/>
                      <a:r>
                        <a:rPr sz="3200"/>
                        <a:t>3474</a:t>
                      </a:r>
                    </a:p>
                  </a:txBody>
                  <a:tcPr marL="50800" marR="50800" marT="50800" marB="50800" anchor="ctr" anchorCtr="0" horzOverflow="overflow"/>
                </a:tc>
                <a:tc>
                  <a:txBody>
                    <a:bodyPr/>
                    <a:lstStyle/>
                    <a:p>
                      <a:pPr defTabSz="914400"/>
                      <a:r>
                        <a:rPr sz="3200"/>
                        <a:t>4424</a:t>
                      </a:r>
                    </a:p>
                  </a:txBody>
                  <a:tcPr marL="50800" marR="50800" marT="50800" marB="50800" anchor="ctr" anchorCtr="0" horzOverflow="overflow"/>
                </a:tc>
              </a:tr>
              <a:tr h="1648662">
                <a:tc>
                  <a:txBody>
                    <a:bodyPr/>
                    <a:lstStyle/>
                    <a:p>
                      <a:pPr defTabSz="914400"/>
                      <a:r>
                        <a:rPr sz="3200"/>
                        <a:t>Net Profit</a:t>
                      </a:r>
                    </a:p>
                  </a:txBody>
                  <a:tcPr marL="50800" marR="50800" marT="50800" marB="50800" anchor="ctr" anchorCtr="0" horzOverflow="overflow"/>
                </a:tc>
                <a:tc>
                  <a:txBody>
                    <a:bodyPr/>
                    <a:lstStyle/>
                    <a:p>
                      <a:pPr defTabSz="914400"/>
                      <a:r>
                        <a:rPr sz="3200"/>
                        <a:t>2187</a:t>
                      </a:r>
                    </a:p>
                  </a:txBody>
                  <a:tcPr marL="50800" marR="50800" marT="50800" marB="50800" anchor="ctr" anchorCtr="0" horzOverflow="overflow"/>
                </a:tc>
                <a:tc>
                  <a:txBody>
                    <a:bodyPr/>
                    <a:lstStyle/>
                    <a:p>
                      <a:pPr defTabSz="914400"/>
                      <a:r>
                        <a:rPr sz="3200"/>
                        <a:t>2275</a:t>
                      </a:r>
                    </a:p>
                  </a:txBody>
                  <a:tcPr marL="50800" marR="50800" marT="50800" marB="50800" anchor="ctr" anchorCtr="0" horzOverflow="overflow"/>
                </a:tc>
                <a:tc>
                  <a:txBody>
                    <a:bodyPr/>
                    <a:lstStyle/>
                    <a:p>
                      <a:pPr defTabSz="914400"/>
                      <a:r>
                        <a:rPr sz="3200"/>
                        <a:t>2738</a:t>
                      </a:r>
                    </a:p>
                  </a:txBody>
                  <a:tcPr marL="50800" marR="50800" marT="50800" marB="50800" anchor="ctr" anchorCtr="0" horzOverflow="overflow"/>
                </a:tc>
              </a:tr>
            </a:tbl>
          </a:graphicData>
        </a:graphic>
      </p:graphicFrame>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 name="Profitability"/>
          <p:cNvSpPr txBox="1"/>
          <p:nvPr>
            <p:ph type="title"/>
          </p:nvPr>
        </p:nvSpPr>
        <p:spPr>
          <a:prstGeom prst="rect">
            <a:avLst/>
          </a:prstGeom>
        </p:spPr>
        <p:txBody>
          <a:bodyPr/>
          <a:lstStyle/>
          <a:p>
            <a:pPr/>
            <a:r>
              <a:t>Profitability</a:t>
            </a:r>
          </a:p>
        </p:txBody>
      </p:sp>
      <p:graphicFrame>
        <p:nvGraphicFramePr>
          <p:cNvPr id="177" name="Content Placeholder 3"/>
          <p:cNvGraphicFramePr/>
          <p:nvPr/>
        </p:nvGraphicFramePr>
        <p:xfrm>
          <a:off x="856611" y="3272738"/>
          <a:ext cx="23201040" cy="10673094"/>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5797085"/>
                <a:gridCol w="5797085"/>
                <a:gridCol w="5797085"/>
                <a:gridCol w="5797085"/>
              </a:tblGrid>
              <a:tr h="1776732">
                <a:tc>
                  <a:txBody>
                    <a:bodyPr/>
                    <a:lstStyle/>
                    <a:p>
                      <a:pPr algn="l" defTabSz="457200">
                        <a:defRPr b="0"/>
                      </a:pPr>
                      <a:r>
                        <a:rPr b="1" sz="4000">
                          <a:solidFill>
                            <a:srgbClr val="FFFFFF"/>
                          </a:solidFill>
                        </a:rPr>
                        <a:t>Ratio</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38100">
                      <a:solidFill>
                        <a:srgbClr val="FFFFFF"/>
                      </a:solidFill>
                    </a:lnB>
                    <a:solidFill>
                      <a:srgbClr val="A53010"/>
                    </a:solidFill>
                  </a:tcPr>
                </a:tc>
                <a:tc>
                  <a:txBody>
                    <a:bodyPr/>
                    <a:lstStyle/>
                    <a:p>
                      <a:pPr algn="l" defTabSz="457200">
                        <a:defRPr b="0"/>
                      </a:pPr>
                      <a:r>
                        <a:rPr b="1" sz="4000">
                          <a:solidFill>
                            <a:srgbClr val="FFFFFF"/>
                          </a:solidFill>
                        </a:rPr>
                        <a:t>Tesco</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38100">
                      <a:solidFill>
                        <a:srgbClr val="FFFFFF"/>
                      </a:solidFill>
                    </a:lnB>
                    <a:solidFill>
                      <a:srgbClr val="A53010"/>
                    </a:solidFill>
                  </a:tcPr>
                </a:tc>
                <a:tc>
                  <a:txBody>
                    <a:bodyPr/>
                    <a:lstStyle/>
                    <a:p>
                      <a:pPr algn="l" defTabSz="457200">
                        <a:defRPr b="0"/>
                      </a:pPr>
                      <a:r>
                        <a:rPr b="1" sz="4000">
                          <a:solidFill>
                            <a:srgbClr val="FFFFFF"/>
                          </a:solidFill>
                        </a:rPr>
                        <a:t>Loblaw</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38100">
                      <a:solidFill>
                        <a:srgbClr val="FFFFFF"/>
                      </a:solidFill>
                    </a:lnB>
                    <a:solidFill>
                      <a:srgbClr val="A53010"/>
                    </a:solidFill>
                  </a:tcPr>
                </a:tc>
                <a:tc>
                  <a:txBody>
                    <a:bodyPr/>
                    <a:lstStyle/>
                    <a:p>
                      <a:pPr algn="l" defTabSz="457200">
                        <a:defRPr b="0"/>
                      </a:pPr>
                      <a:r>
                        <a:rPr b="1" sz="4000">
                          <a:solidFill>
                            <a:srgbClr val="FFFFFF"/>
                          </a:solidFill>
                        </a:rPr>
                        <a:t>Better</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38100">
                      <a:solidFill>
                        <a:srgbClr val="FFFFFF"/>
                      </a:solidFill>
                    </a:lnB>
                    <a:solidFill>
                      <a:srgbClr val="A53010"/>
                    </a:solidFill>
                  </a:tcPr>
                </a:tc>
              </a:tr>
              <a:tr h="1776732">
                <a:tc>
                  <a:txBody>
                    <a:bodyPr/>
                    <a:lstStyle/>
                    <a:p>
                      <a:pPr algn="l" defTabSz="457200"/>
                      <a:r>
                        <a:rPr sz="3500"/>
                        <a:t>Gross Profit Margin</a:t>
                      </a:r>
                    </a:p>
                  </a:txBody>
                  <a:tcPr marL="45720" marR="45720" marT="45720" marB="45720" anchor="ctr" anchorCtr="0" horzOverflow="overflow">
                    <a:lnL w="12700">
                      <a:solidFill>
                        <a:srgbClr val="FFFFFF"/>
                      </a:solidFill>
                    </a:lnL>
                    <a:lnR w="12700">
                      <a:solidFill>
                        <a:srgbClr val="FFFFFF"/>
                      </a:solidFill>
                    </a:lnR>
                    <a:lnT w="38100">
                      <a:solidFill>
                        <a:srgbClr val="FFFFFF"/>
                      </a:solidFill>
                    </a:lnT>
                    <a:lnB w="12700">
                      <a:solidFill>
                        <a:srgbClr val="FFFFFF"/>
                      </a:solidFill>
                    </a:lnB>
                    <a:solidFill>
                      <a:srgbClr val="E0CCCA"/>
                    </a:solidFill>
                  </a:tcPr>
                </a:tc>
                <a:tc>
                  <a:txBody>
                    <a:bodyPr/>
                    <a:lstStyle/>
                    <a:p>
                      <a:pPr algn="l" defTabSz="457200"/>
                      <a:r>
                        <a:rPr sz="3500"/>
                        <a:t>5.57% → 7.22%</a:t>
                      </a:r>
                    </a:p>
                  </a:txBody>
                  <a:tcPr marL="45720" marR="45720" marT="45720" marB="45720" anchor="ctr" anchorCtr="0" horzOverflow="overflow">
                    <a:lnL w="12700">
                      <a:solidFill>
                        <a:srgbClr val="FFFFFF"/>
                      </a:solidFill>
                    </a:lnL>
                    <a:lnR w="12700">
                      <a:solidFill>
                        <a:srgbClr val="FFFFFF"/>
                      </a:solidFill>
                    </a:lnR>
                    <a:lnT w="38100">
                      <a:solidFill>
                        <a:srgbClr val="FFFFFF"/>
                      </a:solidFill>
                    </a:lnT>
                    <a:lnB w="12700">
                      <a:solidFill>
                        <a:srgbClr val="FFFFFF"/>
                      </a:solidFill>
                    </a:lnB>
                    <a:solidFill>
                      <a:srgbClr val="E0CCCA"/>
                    </a:solidFill>
                  </a:tcPr>
                </a:tc>
                <a:tc>
                  <a:txBody>
                    <a:bodyPr/>
                    <a:lstStyle/>
                    <a:p>
                      <a:pPr algn="l" defTabSz="457200"/>
                      <a:r>
                        <a:rPr sz="3500"/>
                        <a:t>30.99% → 31.35%</a:t>
                      </a:r>
                    </a:p>
                  </a:txBody>
                  <a:tcPr marL="45720" marR="45720" marT="45720" marB="45720" anchor="ctr" anchorCtr="0" horzOverflow="overflow">
                    <a:lnL w="12700">
                      <a:solidFill>
                        <a:srgbClr val="FFFFFF"/>
                      </a:solidFill>
                    </a:lnL>
                    <a:lnR w="12700">
                      <a:solidFill>
                        <a:srgbClr val="FFFFFF"/>
                      </a:solidFill>
                    </a:lnR>
                    <a:lnT w="38100">
                      <a:solidFill>
                        <a:srgbClr val="FFFFFF"/>
                      </a:solidFill>
                    </a:lnT>
                    <a:lnB w="12700">
                      <a:solidFill>
                        <a:srgbClr val="FFFFFF"/>
                      </a:solidFill>
                    </a:lnB>
                    <a:solidFill>
                      <a:srgbClr val="E0CCCA"/>
                    </a:solidFill>
                  </a:tcPr>
                </a:tc>
                <a:tc>
                  <a:txBody>
                    <a:bodyPr/>
                    <a:lstStyle/>
                    <a:p>
                      <a:pPr algn="l" defTabSz="457200"/>
                      <a:r>
                        <a:rPr sz="3500"/>
                        <a:t> Loblaw</a:t>
                      </a:r>
                    </a:p>
                  </a:txBody>
                  <a:tcPr marL="45720" marR="45720" marT="45720" marB="45720" anchor="ctr" anchorCtr="0" horzOverflow="overflow">
                    <a:lnL w="12700">
                      <a:solidFill>
                        <a:srgbClr val="FFFFFF"/>
                      </a:solidFill>
                    </a:lnL>
                    <a:lnR w="12700">
                      <a:solidFill>
                        <a:srgbClr val="FFFFFF"/>
                      </a:solidFill>
                    </a:lnR>
                    <a:lnT w="38100">
                      <a:solidFill>
                        <a:srgbClr val="FFFFFF"/>
                      </a:solidFill>
                    </a:lnT>
                    <a:lnB w="12700">
                      <a:solidFill>
                        <a:srgbClr val="FFFFFF"/>
                      </a:solidFill>
                    </a:lnB>
                    <a:solidFill>
                      <a:srgbClr val="E0CCCA"/>
                    </a:solidFill>
                  </a:tcPr>
                </a:tc>
              </a:tr>
              <a:tr h="1776732">
                <a:tc>
                  <a:txBody>
                    <a:bodyPr/>
                    <a:lstStyle/>
                    <a:p>
                      <a:pPr algn="l" defTabSz="457200"/>
                      <a:r>
                        <a:rPr sz="3500"/>
                        <a:t>Net Profit Margin</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0E7E6"/>
                    </a:solidFill>
                  </a:tcPr>
                </a:tc>
                <a:tc>
                  <a:txBody>
                    <a:bodyPr/>
                    <a:lstStyle/>
                    <a:p>
                      <a:pPr algn="l" defTabSz="457200"/>
                      <a:r>
                        <a:rPr sz="3500"/>
                        <a:t>1.52% → 3.17%</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0E7E6"/>
                    </a:solidFill>
                  </a:tcPr>
                </a:tc>
                <a:tc>
                  <a:txBody>
                    <a:bodyPr/>
                    <a:lstStyle/>
                    <a:p>
                      <a:pPr algn="l" defTabSz="457200"/>
                      <a:r>
                        <a:rPr sz="3500"/>
                        <a:t>4.97% → 5.76%</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0E7E6"/>
                    </a:solidFill>
                  </a:tcPr>
                </a:tc>
                <a:tc>
                  <a:txBody>
                    <a:bodyPr/>
                    <a:lstStyle/>
                    <a:p>
                      <a:pPr algn="l" defTabSz="457200"/>
                      <a:r>
                        <a:rPr sz="3500"/>
                        <a:t> Loblaw</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0E7E6"/>
                    </a:solidFill>
                  </a:tcPr>
                </a:tc>
              </a:tr>
              <a:tr h="1776732">
                <a:tc>
                  <a:txBody>
                    <a:bodyPr/>
                    <a:lstStyle/>
                    <a:p>
                      <a:pPr algn="l" defTabSz="457200"/>
                      <a:r>
                        <a:rPr sz="3500"/>
                        <a:t>Return on Assets</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E0CCCA"/>
                    </a:solidFill>
                  </a:tcPr>
                </a:tc>
                <a:tc>
                  <a:txBody>
                    <a:bodyPr/>
                    <a:lstStyle/>
                    <a:p>
                      <a:pPr algn="l" defTabSz="457200"/>
                      <a:r>
                        <a:rPr sz="3500"/>
                        <a:t>8.18% → 18.99%</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E0CCCA"/>
                    </a:solidFill>
                  </a:tcPr>
                </a:tc>
                <a:tc>
                  <a:txBody>
                    <a:bodyPr/>
                    <a:lstStyle/>
                    <a:p>
                      <a:pPr algn="l" defTabSz="457200"/>
                      <a:r>
                        <a:rPr sz="3500"/>
                        <a:t>6.98% → 9.45%</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E0CCCA"/>
                    </a:solidFill>
                  </a:tcPr>
                </a:tc>
                <a:tc>
                  <a:txBody>
                    <a:bodyPr/>
                    <a:lstStyle/>
                    <a:p>
                      <a:pPr algn="l" defTabSz="457200"/>
                      <a:r>
                        <a:rPr sz="3500"/>
                        <a:t> Tesco</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E0CCCA"/>
                    </a:solidFill>
                  </a:tcPr>
                </a:tc>
              </a:tr>
              <a:tr h="1776732">
                <a:tc>
                  <a:txBody>
                    <a:bodyPr/>
                    <a:lstStyle/>
                    <a:p>
                      <a:pPr algn="l" defTabSz="457200"/>
                      <a:r>
                        <a:rPr sz="3500"/>
                        <a:t>ROCE</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0E7E6"/>
                    </a:solidFill>
                  </a:tcPr>
                </a:tc>
                <a:tc>
                  <a:txBody>
                    <a:bodyPr/>
                    <a:lstStyle/>
                    <a:p>
                      <a:pPr algn="l" defTabSz="457200"/>
                      <a:r>
                        <a:rPr sz="3500"/>
                        <a:t>21.12% → 40.47%</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0E7E6"/>
                    </a:solidFill>
                  </a:tcPr>
                </a:tc>
                <a:tc>
                  <a:txBody>
                    <a:bodyPr/>
                    <a:lstStyle/>
                    <a:p>
                      <a:pPr algn="l" defTabSz="457200"/>
                      <a:r>
                        <a:rPr sz="3500"/>
                        <a:t>12.05% → 17.62%</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0E7E6"/>
                    </a:solidFill>
                  </a:tcPr>
                </a:tc>
                <a:tc>
                  <a:txBody>
                    <a:bodyPr/>
                    <a:lstStyle/>
                    <a:p>
                      <a:pPr algn="l" defTabSz="457200"/>
                      <a:r>
                        <a:rPr sz="3500"/>
                        <a:t> Tesco</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0E7E6"/>
                    </a:solidFill>
                  </a:tcPr>
                </a:tc>
              </a:tr>
            </a:tbl>
          </a:graphicData>
        </a:graphic>
      </p:graphicFrame>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 name="Profitability and Ratio Analysis"/>
          <p:cNvSpPr txBox="1"/>
          <p:nvPr>
            <p:ph type="title"/>
          </p:nvPr>
        </p:nvSpPr>
        <p:spPr>
          <a:prstGeom prst="rect">
            <a:avLst/>
          </a:prstGeom>
        </p:spPr>
        <p:txBody>
          <a:bodyPr/>
          <a:lstStyle/>
          <a:p>
            <a:pPr/>
            <a:r>
              <a:t>Profitability and Ratio Analysis</a:t>
            </a:r>
          </a:p>
        </p:txBody>
      </p:sp>
      <p:sp>
        <p:nvSpPr>
          <p:cNvPr id="180" name="Tesco &amp; Loblaw"/>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Tesco &amp; Loblaw</a:t>
            </a:r>
          </a:p>
        </p:txBody>
      </p:sp>
      <p:sp>
        <p:nvSpPr>
          <p:cNvPr id="181" name="Tesco profitability generally increased consecutively from 2023 to 2025…"/>
          <p:cNvSpPr txBox="1"/>
          <p:nvPr>
            <p:ph type="body" idx="1"/>
          </p:nvPr>
        </p:nvSpPr>
        <p:spPr>
          <a:prstGeom prst="rect">
            <a:avLst/>
          </a:prstGeom>
        </p:spPr>
        <p:txBody>
          <a:bodyPr/>
          <a:lstStyle/>
          <a:p>
            <a:pPr defTabSz="457200">
              <a:spcBef>
                <a:spcPts val="4900"/>
              </a:spcBef>
            </a:pPr>
            <a:r>
              <a:t>Tesco profitability generally increased consecutively from 2023 to 2025</a:t>
            </a:r>
          </a:p>
          <a:p>
            <a:pPr defTabSz="457200">
              <a:spcBef>
                <a:spcPts val="4900"/>
              </a:spcBef>
            </a:pPr>
            <a:r>
              <a:t>Gross profit margin went from 5.57% in 2023 to 7.11% in 2024 and then 7.22% in 2025. Additionally, sales-to-assets and return on assets also demonstrated similar increases.</a:t>
            </a:r>
          </a:p>
          <a:p>
            <a:pPr defTabSz="457200">
              <a:spcBef>
                <a:spcPts val="4900"/>
              </a:spcBef>
            </a:pPr>
            <a:r>
              <a:t>Loblaw’s gearing ratio was 36.44% in 2023 but increased in 2024 to 40.19% which is risky for Loblaw because it highlights that the company was geared on long-term debt as a source of finance other than share capital or equity.</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3" name="Liquidity, Efficiency &amp; Financial Risk"/>
          <p:cNvSpPr txBox="1"/>
          <p:nvPr>
            <p:ph type="title"/>
          </p:nvPr>
        </p:nvSpPr>
        <p:spPr>
          <a:prstGeom prst="rect">
            <a:avLst/>
          </a:prstGeom>
        </p:spPr>
        <p:txBody>
          <a:bodyPr/>
          <a:lstStyle/>
          <a:p>
            <a:pPr/>
            <a:r>
              <a:t>Liquidity, Efficiency &amp; Financial Risk</a:t>
            </a:r>
          </a:p>
        </p:txBody>
      </p:sp>
      <p:sp>
        <p:nvSpPr>
          <p:cNvPr id="184" name="Tesco &amp; Loblaw"/>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Tesco &amp; Loblaw</a:t>
            </a:r>
          </a:p>
        </p:txBody>
      </p:sp>
      <p:sp>
        <p:nvSpPr>
          <p:cNvPr id="185" name="The year 2025 has proven to be a difficult year for Loblaw in its ability to pay its bills on time. Ratios such as Current ratio, quick ratio and dividend cover prove this.…"/>
          <p:cNvSpPr txBox="1"/>
          <p:nvPr>
            <p:ph type="body" idx="1"/>
          </p:nvPr>
        </p:nvSpPr>
        <p:spPr>
          <a:prstGeom prst="rect">
            <a:avLst/>
          </a:prstGeom>
        </p:spPr>
        <p:txBody>
          <a:bodyPr/>
          <a:lstStyle/>
          <a:p>
            <a:pPr defTabSz="457200">
              <a:spcBef>
                <a:spcPts val="4900"/>
              </a:spcBef>
            </a:pPr>
            <a:r>
              <a:t>The year 2025 has proven to be a difficult year for Loblaw in its ability to pay its bills on time. Ratios such as Current ratio, quick ratio and dividend cover prove this.</a:t>
            </a:r>
          </a:p>
          <a:p>
            <a:pPr defTabSz="457200">
              <a:spcBef>
                <a:spcPts val="4900"/>
              </a:spcBef>
            </a:pPr>
            <a:r>
              <a:t>Loblaw’s gearing ratio was 36.44% in 2023 but increased in 2024 to 40.19% which is risky for Loblaw because it highlights that the company was geared on long-term debt as a source of finance other than share capital or equity.</a:t>
            </a:r>
          </a:p>
          <a:p>
            <a:pPr defTabSz="457200">
              <a:spcBef>
                <a:spcPts val="4900"/>
              </a:spcBef>
            </a:pPr>
            <a:r>
              <a:t>Tesco averagely held its product in inventory 14.8 days in 2023, 15.3 days in 2024 and 15.7 days in 2025. Which is very much lower than Loblaw’s from 2023 through 2025.</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7" name="Liquidity &amp; Financial Risk"/>
          <p:cNvSpPr txBox="1"/>
          <p:nvPr>
            <p:ph type="title"/>
          </p:nvPr>
        </p:nvSpPr>
        <p:spPr>
          <a:prstGeom prst="rect">
            <a:avLst/>
          </a:prstGeom>
        </p:spPr>
        <p:txBody>
          <a:bodyPr/>
          <a:lstStyle/>
          <a:p>
            <a:pPr/>
            <a:r>
              <a:t>Liquidity &amp; Financial Risk</a:t>
            </a:r>
          </a:p>
        </p:txBody>
      </p:sp>
      <p:graphicFrame>
        <p:nvGraphicFramePr>
          <p:cNvPr id="188" name="Content Placeholder 3"/>
          <p:cNvGraphicFramePr/>
          <p:nvPr/>
        </p:nvGraphicFramePr>
        <p:xfrm>
          <a:off x="835907" y="3099906"/>
          <a:ext cx="22724886" cy="9748163"/>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5678046"/>
                <a:gridCol w="5678046"/>
                <a:gridCol w="5678046"/>
                <a:gridCol w="5678046"/>
              </a:tblGrid>
              <a:tr h="1947092">
                <a:tc>
                  <a:txBody>
                    <a:bodyPr/>
                    <a:lstStyle/>
                    <a:p>
                      <a:pPr algn="l" defTabSz="457200">
                        <a:defRPr b="0"/>
                      </a:pPr>
                      <a:r>
                        <a:rPr b="1" sz="4000">
                          <a:solidFill>
                            <a:srgbClr val="FFFFFF"/>
                          </a:solidFill>
                        </a:rPr>
                        <a:t>Ratio</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38100">
                      <a:solidFill>
                        <a:srgbClr val="FFFFFF"/>
                      </a:solidFill>
                    </a:lnB>
                    <a:solidFill>
                      <a:srgbClr val="A53010"/>
                    </a:solidFill>
                  </a:tcPr>
                </a:tc>
                <a:tc>
                  <a:txBody>
                    <a:bodyPr/>
                    <a:lstStyle/>
                    <a:p>
                      <a:pPr algn="l" defTabSz="457200">
                        <a:defRPr b="0"/>
                      </a:pPr>
                      <a:r>
                        <a:rPr b="1" sz="4000">
                          <a:solidFill>
                            <a:srgbClr val="FFFFFF"/>
                          </a:solidFill>
                        </a:rPr>
                        <a:t>Tesco</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38100">
                      <a:solidFill>
                        <a:srgbClr val="FFFFFF"/>
                      </a:solidFill>
                    </a:lnB>
                    <a:solidFill>
                      <a:srgbClr val="A53010"/>
                    </a:solidFill>
                  </a:tcPr>
                </a:tc>
                <a:tc>
                  <a:txBody>
                    <a:bodyPr/>
                    <a:lstStyle/>
                    <a:p>
                      <a:pPr algn="l" defTabSz="457200">
                        <a:defRPr b="0"/>
                      </a:pPr>
                      <a:r>
                        <a:rPr b="1" sz="4000">
                          <a:solidFill>
                            <a:srgbClr val="FFFFFF"/>
                          </a:solidFill>
                        </a:rPr>
                        <a:t>Loblaw</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38100">
                      <a:solidFill>
                        <a:srgbClr val="FFFFFF"/>
                      </a:solidFill>
                    </a:lnB>
                    <a:solidFill>
                      <a:srgbClr val="A53010"/>
                    </a:solidFill>
                  </a:tcPr>
                </a:tc>
                <a:tc>
                  <a:txBody>
                    <a:bodyPr/>
                    <a:lstStyle/>
                    <a:p>
                      <a:pPr algn="l" defTabSz="457200">
                        <a:defRPr b="0"/>
                      </a:pPr>
                      <a:r>
                        <a:rPr b="1" sz="4000">
                          <a:solidFill>
                            <a:srgbClr val="FFFFFF"/>
                          </a:solidFill>
                        </a:rPr>
                        <a:t>Winner</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38100">
                      <a:solidFill>
                        <a:srgbClr val="FFFFFF"/>
                      </a:solidFill>
                    </a:lnB>
                    <a:solidFill>
                      <a:srgbClr val="A53010"/>
                    </a:solidFill>
                  </a:tcPr>
                </a:tc>
              </a:tr>
              <a:tr h="1947092">
                <a:tc>
                  <a:txBody>
                    <a:bodyPr/>
                    <a:lstStyle/>
                    <a:p>
                      <a:pPr algn="l" defTabSz="457200"/>
                      <a:r>
                        <a:rPr sz="3500"/>
                        <a:t>Current Ratio</a:t>
                      </a:r>
                    </a:p>
                  </a:txBody>
                  <a:tcPr marL="45720" marR="45720" marT="45720" marB="45720" anchor="ctr" anchorCtr="0" horzOverflow="overflow">
                    <a:lnL w="12700">
                      <a:solidFill>
                        <a:srgbClr val="FFFFFF"/>
                      </a:solidFill>
                    </a:lnL>
                    <a:lnR w="12700">
                      <a:solidFill>
                        <a:srgbClr val="FFFFFF"/>
                      </a:solidFill>
                    </a:lnR>
                    <a:lnT w="38100">
                      <a:solidFill>
                        <a:srgbClr val="FFFFFF"/>
                      </a:solidFill>
                    </a:lnT>
                    <a:lnB w="12700">
                      <a:solidFill>
                        <a:srgbClr val="FFFFFF"/>
                      </a:solidFill>
                    </a:lnB>
                    <a:solidFill>
                      <a:srgbClr val="E0CCCA"/>
                    </a:solidFill>
                  </a:tcPr>
                </a:tc>
                <a:tc>
                  <a:txBody>
                    <a:bodyPr/>
                    <a:lstStyle/>
                    <a:p>
                      <a:pPr algn="l" defTabSz="457200"/>
                      <a:r>
                        <a:rPr sz="3500"/>
                        <a:t>2.54 → 1.78</a:t>
                      </a:r>
                    </a:p>
                  </a:txBody>
                  <a:tcPr marL="45720" marR="45720" marT="45720" marB="45720" anchor="ctr" anchorCtr="0" horzOverflow="overflow">
                    <a:lnL w="12700">
                      <a:solidFill>
                        <a:srgbClr val="FFFFFF"/>
                      </a:solidFill>
                    </a:lnL>
                    <a:lnR w="12700">
                      <a:solidFill>
                        <a:srgbClr val="FFFFFF"/>
                      </a:solidFill>
                    </a:lnR>
                    <a:lnT w="38100">
                      <a:solidFill>
                        <a:srgbClr val="FFFFFF"/>
                      </a:solidFill>
                    </a:lnT>
                    <a:lnB w="12700">
                      <a:solidFill>
                        <a:srgbClr val="FFFFFF"/>
                      </a:solidFill>
                    </a:lnB>
                    <a:solidFill>
                      <a:srgbClr val="E0CCCA"/>
                    </a:solidFill>
                  </a:tcPr>
                </a:tc>
                <a:tc>
                  <a:txBody>
                    <a:bodyPr/>
                    <a:lstStyle/>
                    <a:p>
                      <a:pPr algn="l" defTabSz="457200"/>
                      <a:r>
                        <a:rPr sz="3500"/>
                        <a:t>1.25 → 1.08</a:t>
                      </a:r>
                    </a:p>
                  </a:txBody>
                  <a:tcPr marL="45720" marR="45720" marT="45720" marB="45720" anchor="ctr" anchorCtr="0" horzOverflow="overflow">
                    <a:lnL w="12700">
                      <a:solidFill>
                        <a:srgbClr val="FFFFFF"/>
                      </a:solidFill>
                    </a:lnL>
                    <a:lnR w="12700">
                      <a:solidFill>
                        <a:srgbClr val="FFFFFF"/>
                      </a:solidFill>
                    </a:lnR>
                    <a:lnT w="38100">
                      <a:solidFill>
                        <a:srgbClr val="FFFFFF"/>
                      </a:solidFill>
                    </a:lnT>
                    <a:lnB w="12700">
                      <a:solidFill>
                        <a:srgbClr val="FFFFFF"/>
                      </a:solidFill>
                    </a:lnB>
                    <a:solidFill>
                      <a:srgbClr val="E0CCCA"/>
                    </a:solidFill>
                  </a:tcPr>
                </a:tc>
                <a:tc>
                  <a:txBody>
                    <a:bodyPr/>
                    <a:lstStyle/>
                    <a:p>
                      <a:pPr algn="l" defTabSz="457200"/>
                      <a:r>
                        <a:rPr sz="3500"/>
                        <a:t>Tesco</a:t>
                      </a:r>
                    </a:p>
                  </a:txBody>
                  <a:tcPr marL="45720" marR="45720" marT="45720" marB="45720" anchor="ctr" anchorCtr="0" horzOverflow="overflow">
                    <a:lnL w="12700">
                      <a:solidFill>
                        <a:srgbClr val="FFFFFF"/>
                      </a:solidFill>
                    </a:lnL>
                    <a:lnR w="12700">
                      <a:solidFill>
                        <a:srgbClr val="FFFFFF"/>
                      </a:solidFill>
                    </a:lnR>
                    <a:lnT w="38100">
                      <a:solidFill>
                        <a:srgbClr val="FFFFFF"/>
                      </a:solidFill>
                    </a:lnT>
                    <a:lnB w="12700">
                      <a:solidFill>
                        <a:srgbClr val="FFFFFF"/>
                      </a:solidFill>
                    </a:lnB>
                    <a:solidFill>
                      <a:srgbClr val="E0CCCA"/>
                    </a:solidFill>
                  </a:tcPr>
                </a:tc>
              </a:tr>
              <a:tr h="1947092">
                <a:tc>
                  <a:txBody>
                    <a:bodyPr/>
                    <a:lstStyle/>
                    <a:p>
                      <a:pPr algn="l" defTabSz="457200"/>
                      <a:r>
                        <a:rPr sz="3500"/>
                        <a:t>Quick Ratio</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0E7E6"/>
                    </a:solidFill>
                  </a:tcPr>
                </a:tc>
                <a:tc>
                  <a:txBody>
                    <a:bodyPr/>
                    <a:lstStyle/>
                    <a:p>
                      <a:pPr algn="l" defTabSz="457200"/>
                      <a:r>
                        <a:rPr sz="3500"/>
                        <a:t>2.04 → 1.23</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0E7E6"/>
                    </a:solidFill>
                  </a:tcPr>
                </a:tc>
                <a:tc>
                  <a:txBody>
                    <a:bodyPr/>
                    <a:lstStyle/>
                    <a:p>
                      <a:pPr algn="l" defTabSz="457200"/>
                      <a:r>
                        <a:rPr sz="3500"/>
                        <a:t>0.72 → 0.61</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0E7E6"/>
                    </a:solidFill>
                  </a:tcPr>
                </a:tc>
                <a:tc>
                  <a:txBody>
                    <a:bodyPr/>
                    <a:lstStyle/>
                    <a:p>
                      <a:pPr algn="l" defTabSz="457200"/>
                      <a:r>
                        <a:rPr sz="3500"/>
                        <a:t>Tesco</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0E7E6"/>
                    </a:solidFill>
                  </a:tcPr>
                </a:tc>
              </a:tr>
              <a:tr h="1947092">
                <a:tc>
                  <a:txBody>
                    <a:bodyPr/>
                    <a:lstStyle/>
                    <a:p>
                      <a:pPr algn="l" defTabSz="457200"/>
                      <a:r>
                        <a:rPr sz="3500"/>
                        <a:t>Gearing</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E0CCCA"/>
                    </a:solidFill>
                  </a:tcPr>
                </a:tc>
                <a:tc>
                  <a:txBody>
                    <a:bodyPr/>
                    <a:lstStyle/>
                    <a:p>
                      <a:pPr algn="l" defTabSz="457200"/>
                      <a:r>
                        <a:rPr sz="3500"/>
                        <a:t>30–33%</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E0CCCA"/>
                    </a:solidFill>
                  </a:tcPr>
                </a:tc>
                <a:tc>
                  <a:txBody>
                    <a:bodyPr/>
                    <a:lstStyle/>
                    <a:p>
                      <a:pPr algn="l" defTabSz="457200"/>
                      <a:r>
                        <a:rPr sz="3500"/>
                        <a:t>34–40%</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E0CCCA"/>
                    </a:solidFill>
                  </a:tcPr>
                </a:tc>
                <a:tc>
                  <a:txBody>
                    <a:bodyPr/>
                    <a:lstStyle/>
                    <a:p>
                      <a:pPr algn="l" defTabSz="457200"/>
                      <a:r>
                        <a:rPr sz="3500"/>
                        <a:t>Tesco</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E0CCCA"/>
                    </a:solidFill>
                  </a:tcPr>
                </a:tc>
              </a:tr>
              <a:tr h="1947092">
                <a:tc>
                  <a:txBody>
                    <a:bodyPr/>
                    <a:lstStyle/>
                    <a:p>
                      <a:pPr algn="l" defTabSz="457200"/>
                      <a:r>
                        <a:rPr sz="3500"/>
                        <a:t>Interest Cover</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0E7E6"/>
                    </a:solidFill>
                  </a:tcPr>
                </a:tc>
                <a:tc>
                  <a:txBody>
                    <a:bodyPr/>
                    <a:lstStyle/>
                    <a:p>
                      <a:pPr algn="l" defTabSz="457200"/>
                      <a:r>
                        <a:rPr sz="3500"/>
                        <a:t>
2.5 → 3.6</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0E7E6"/>
                    </a:solidFill>
                  </a:tcPr>
                </a:tc>
                <a:tc>
                  <a:txBody>
                    <a:bodyPr/>
                    <a:lstStyle/>
                    <a:p>
                      <a:pPr algn="l" defTabSz="457200"/>
                      <a:r>
                        <a:rPr sz="3500"/>
                        <a:t>
4.6 → 6.0</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0E7E6"/>
                    </a:solidFill>
                  </a:tcPr>
                </a:tc>
                <a:tc>
                  <a:txBody>
                    <a:bodyPr/>
                    <a:lstStyle/>
                    <a:p>
                      <a:pPr algn="l" defTabSz="457200"/>
                      <a:r>
                        <a:rPr sz="3500"/>
                        <a:t>
Loblaw</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0E7E6"/>
                    </a:solidFill>
                  </a:tcPr>
                </a:tc>
              </a:tr>
            </a:tbl>
          </a:graphicData>
        </a:graphic>
      </p:graphicFrame>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Liquidity &amp; Financial Risk"/>
          <p:cNvSpPr txBox="1"/>
          <p:nvPr>
            <p:ph type="title"/>
          </p:nvPr>
        </p:nvSpPr>
        <p:spPr>
          <a:prstGeom prst="rect">
            <a:avLst/>
          </a:prstGeom>
        </p:spPr>
        <p:txBody>
          <a:bodyPr/>
          <a:lstStyle/>
          <a:p>
            <a:pPr/>
            <a:r>
              <a:t>Liquidity &amp; Financial Risk</a:t>
            </a:r>
          </a:p>
        </p:txBody>
      </p:sp>
      <p:sp>
        <p:nvSpPr>
          <p:cNvPr id="191" name="Investment Interpretat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Investment Interpretation</a:t>
            </a:r>
          </a:p>
        </p:txBody>
      </p:sp>
      <p:sp>
        <p:nvSpPr>
          <p:cNvPr id="192" name="Liquidity ratios show whether a company can meet its short-term obligations, while solvency ratios measure long-term financial risk.…"/>
          <p:cNvSpPr txBox="1"/>
          <p:nvPr>
            <p:ph type="body" idx="1"/>
          </p:nvPr>
        </p:nvSpPr>
        <p:spPr>
          <a:prstGeom prst="rect">
            <a:avLst/>
          </a:prstGeom>
        </p:spPr>
        <p:txBody>
          <a:bodyPr/>
          <a:lstStyle/>
          <a:p>
            <a:pPr/>
            <a:r>
              <a:t>Liquidity ratios show whether a company can meet its short-term obligations, while solvency ratios measure long-term financial risk. </a:t>
            </a:r>
          </a:p>
          <a:p>
            <a:pPr/>
            <a:r>
              <a:t>Investors generally prefer companies with strong liquidity and manageable debt because they are financially more stable.</a:t>
            </a:r>
          </a:p>
          <a:p>
            <a:pPr/>
            <a:r>
              <a:t>Tesco had stronger liquidity. </a:t>
            </a:r>
          </a:p>
          <a:p>
            <a:pPr/>
            <a:r>
              <a:t>Lower gearing means lower financial risk. </a:t>
            </a:r>
          </a:p>
          <a:p>
            <a:pPr/>
            <a:r>
              <a:t>Loblaw had better interest cover. </a:t>
            </a:r>
          </a:p>
          <a:p>
            <a:pPr/>
            <a:r>
              <a:t>Overall, Tesco offers a stronger financial position. </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Operational Efficiency"/>
          <p:cNvSpPr txBox="1"/>
          <p:nvPr>
            <p:ph type="title"/>
          </p:nvPr>
        </p:nvSpPr>
        <p:spPr>
          <a:prstGeom prst="rect">
            <a:avLst/>
          </a:prstGeom>
        </p:spPr>
        <p:txBody>
          <a:bodyPr/>
          <a:lstStyle/>
          <a:p>
            <a:pPr/>
            <a:r>
              <a:t>Operational Efficiency</a:t>
            </a:r>
          </a:p>
        </p:txBody>
      </p:sp>
      <p:sp>
        <p:nvSpPr>
          <p:cNvPr id="195" name="Tesco and Loblaw"/>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Tesco and Loblaw</a:t>
            </a:r>
          </a:p>
        </p:txBody>
      </p:sp>
      <p:graphicFrame>
        <p:nvGraphicFramePr>
          <p:cNvPr id="196" name="Content Placeholder 3"/>
          <p:cNvGraphicFramePr/>
          <p:nvPr/>
        </p:nvGraphicFramePr>
        <p:xfrm>
          <a:off x="1194609" y="4053014"/>
          <a:ext cx="22501327" cy="9433780"/>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5622156"/>
                <a:gridCol w="5622156"/>
                <a:gridCol w="5622156"/>
                <a:gridCol w="5622156"/>
              </a:tblGrid>
              <a:tr h="2355269">
                <a:tc>
                  <a:txBody>
                    <a:bodyPr/>
                    <a:lstStyle/>
                    <a:p>
                      <a:pPr algn="l" defTabSz="457200">
                        <a:defRPr b="0"/>
                      </a:pPr>
                      <a:r>
                        <a:rPr b="1" sz="4000">
                          <a:solidFill>
                            <a:srgbClr val="FFFFFF"/>
                          </a:solidFill>
                        </a:rPr>
                        <a:t>Ratio</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38100">
                      <a:solidFill>
                        <a:srgbClr val="FFFFFF"/>
                      </a:solidFill>
                    </a:lnB>
                    <a:solidFill>
                      <a:srgbClr val="A53010"/>
                    </a:solidFill>
                  </a:tcPr>
                </a:tc>
                <a:tc>
                  <a:txBody>
                    <a:bodyPr/>
                    <a:lstStyle/>
                    <a:p>
                      <a:pPr algn="l" defTabSz="457200">
                        <a:defRPr b="0"/>
                      </a:pPr>
                      <a:r>
                        <a:rPr b="1" sz="4000">
                          <a:solidFill>
                            <a:srgbClr val="FFFFFF"/>
                          </a:solidFill>
                        </a:rPr>
                        <a:t>Tesco</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38100">
                      <a:solidFill>
                        <a:srgbClr val="FFFFFF"/>
                      </a:solidFill>
                    </a:lnB>
                    <a:solidFill>
                      <a:srgbClr val="A53010"/>
                    </a:solidFill>
                  </a:tcPr>
                </a:tc>
                <a:tc>
                  <a:txBody>
                    <a:bodyPr/>
                    <a:lstStyle/>
                    <a:p>
                      <a:pPr algn="l" defTabSz="457200">
                        <a:defRPr b="0"/>
                      </a:pPr>
                      <a:r>
                        <a:rPr b="1" sz="4000">
                          <a:solidFill>
                            <a:srgbClr val="FFFFFF"/>
                          </a:solidFill>
                        </a:rPr>
                        <a:t>Loblaw</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38100">
                      <a:solidFill>
                        <a:srgbClr val="FFFFFF"/>
                      </a:solidFill>
                    </a:lnB>
                    <a:solidFill>
                      <a:srgbClr val="A53010"/>
                    </a:solidFill>
                  </a:tcPr>
                </a:tc>
                <a:tc>
                  <a:txBody>
                    <a:bodyPr/>
                    <a:lstStyle/>
                    <a:p>
                      <a:pPr algn="l" defTabSz="457200">
                        <a:defRPr b="0"/>
                      </a:pPr>
                      <a:r>
                        <a:rPr b="1" sz="4000">
                          <a:solidFill>
                            <a:srgbClr val="FFFFFF"/>
                          </a:solidFill>
                        </a:rPr>
                        <a:t>Winner</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38100">
                      <a:solidFill>
                        <a:srgbClr val="FFFFFF"/>
                      </a:solidFill>
                    </a:lnB>
                    <a:solidFill>
                      <a:srgbClr val="A53010"/>
                    </a:solidFill>
                  </a:tcPr>
                </a:tc>
              </a:tr>
              <a:tr h="2355269">
                <a:tc>
                  <a:txBody>
                    <a:bodyPr/>
                    <a:lstStyle/>
                    <a:p>
                      <a:pPr algn="l" defTabSz="457200"/>
                      <a:r>
                        <a:rPr sz="3500"/>
                        <a:t>Inventory Days</a:t>
                      </a:r>
                    </a:p>
                  </a:txBody>
                  <a:tcPr marL="45720" marR="45720" marT="45720" marB="45720" anchor="ctr" anchorCtr="0" horzOverflow="overflow">
                    <a:lnL w="12700">
                      <a:solidFill>
                        <a:srgbClr val="FFFFFF"/>
                      </a:solidFill>
                    </a:lnL>
                    <a:lnR w="12700">
                      <a:solidFill>
                        <a:srgbClr val="FFFFFF"/>
                      </a:solidFill>
                    </a:lnR>
                    <a:lnT w="38100">
                      <a:solidFill>
                        <a:srgbClr val="FFFFFF"/>
                      </a:solidFill>
                    </a:lnT>
                    <a:lnB w="12700">
                      <a:solidFill>
                        <a:srgbClr val="FFFFFF"/>
                      </a:solidFill>
                    </a:lnB>
                    <a:solidFill>
                      <a:srgbClr val="E0CCCA"/>
                    </a:solidFill>
                  </a:tcPr>
                </a:tc>
                <a:tc>
                  <a:txBody>
                    <a:bodyPr/>
                    <a:lstStyle/>
                    <a:p>
                      <a:pPr algn="l" defTabSz="457200"/>
                      <a:r>
                        <a:rPr sz="3500"/>
                        <a:t>15</a:t>
                      </a:r>
                    </a:p>
                  </a:txBody>
                  <a:tcPr marL="45720" marR="45720" marT="45720" marB="45720" anchor="ctr" anchorCtr="0" horzOverflow="overflow">
                    <a:lnL w="12700">
                      <a:solidFill>
                        <a:srgbClr val="FFFFFF"/>
                      </a:solidFill>
                    </a:lnL>
                    <a:lnR w="12700">
                      <a:solidFill>
                        <a:srgbClr val="FFFFFF"/>
                      </a:solidFill>
                    </a:lnR>
                    <a:lnT w="38100">
                      <a:solidFill>
                        <a:srgbClr val="FFFFFF"/>
                      </a:solidFill>
                    </a:lnT>
                    <a:lnB w="12700">
                      <a:solidFill>
                        <a:srgbClr val="FFFFFF"/>
                      </a:solidFill>
                    </a:lnB>
                    <a:solidFill>
                      <a:srgbClr val="E0CCCA"/>
                    </a:solidFill>
                  </a:tcPr>
                </a:tc>
                <a:tc>
                  <a:txBody>
                    <a:bodyPr/>
                    <a:lstStyle/>
                    <a:p>
                      <a:pPr algn="l" defTabSz="457200"/>
                      <a:r>
                        <a:rPr sz="3500"/>
                        <a:t>53–56</a:t>
                      </a:r>
                    </a:p>
                  </a:txBody>
                  <a:tcPr marL="45720" marR="45720" marT="45720" marB="45720" anchor="ctr" anchorCtr="0" horzOverflow="overflow">
                    <a:lnL w="12700">
                      <a:solidFill>
                        <a:srgbClr val="FFFFFF"/>
                      </a:solidFill>
                    </a:lnL>
                    <a:lnR w="12700">
                      <a:solidFill>
                        <a:srgbClr val="FFFFFF"/>
                      </a:solidFill>
                    </a:lnR>
                    <a:lnT w="38100">
                      <a:solidFill>
                        <a:srgbClr val="FFFFFF"/>
                      </a:solidFill>
                    </a:lnT>
                    <a:lnB w="12700">
                      <a:solidFill>
                        <a:srgbClr val="FFFFFF"/>
                      </a:solidFill>
                    </a:lnB>
                    <a:solidFill>
                      <a:srgbClr val="E0CCCA"/>
                    </a:solidFill>
                  </a:tcPr>
                </a:tc>
                <a:tc>
                  <a:txBody>
                    <a:bodyPr/>
                    <a:lstStyle/>
                    <a:p>
                      <a:pPr algn="l" defTabSz="457200"/>
                      <a:r>
                        <a:rPr sz="3500"/>
                        <a:t>Tesco</a:t>
                      </a:r>
                    </a:p>
                  </a:txBody>
                  <a:tcPr marL="45720" marR="45720" marT="45720" marB="45720" anchor="ctr" anchorCtr="0" horzOverflow="overflow">
                    <a:lnL w="12700">
                      <a:solidFill>
                        <a:srgbClr val="FFFFFF"/>
                      </a:solidFill>
                    </a:lnL>
                    <a:lnR w="12700">
                      <a:solidFill>
                        <a:srgbClr val="FFFFFF"/>
                      </a:solidFill>
                    </a:lnR>
                    <a:lnT w="38100">
                      <a:solidFill>
                        <a:srgbClr val="FFFFFF"/>
                      </a:solidFill>
                    </a:lnT>
                    <a:lnB w="12700">
                      <a:solidFill>
                        <a:srgbClr val="FFFFFF"/>
                      </a:solidFill>
                    </a:lnB>
                    <a:solidFill>
                      <a:srgbClr val="E0CCCA"/>
                    </a:solidFill>
                  </a:tcPr>
                </a:tc>
              </a:tr>
              <a:tr h="2355269">
                <a:tc>
                  <a:txBody>
                    <a:bodyPr/>
                    <a:lstStyle/>
                    <a:p>
                      <a:pPr algn="l" defTabSz="457200"/>
                      <a:r>
                        <a:rPr sz="3500"/>
                        <a:t>Inventory Turnover</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0E7E6"/>
                    </a:solidFill>
                  </a:tcPr>
                </a:tc>
                <a:tc>
                  <a:txBody>
                    <a:bodyPr/>
                    <a:lstStyle/>
                    <a:p>
                      <a:pPr algn="l" defTabSz="457200"/>
                      <a:r>
                        <a:rPr sz="3500"/>
                        <a:t>24.7 → 23.2</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0E7E6"/>
                    </a:solidFill>
                  </a:tcPr>
                </a:tc>
                <a:tc>
                  <a:txBody>
                    <a:bodyPr/>
                    <a:lstStyle/>
                    <a:p>
                      <a:pPr algn="l" defTabSz="457200"/>
                      <a:r>
                        <a:rPr sz="3500"/>
                        <a:t>7.0 → 6.8</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0E7E6"/>
                    </a:solidFill>
                  </a:tcPr>
                </a:tc>
                <a:tc>
                  <a:txBody>
                    <a:bodyPr/>
                    <a:lstStyle/>
                    <a:p>
                      <a:pPr algn="l" defTabSz="457200"/>
                      <a:r>
                        <a:rPr sz="3500"/>
                        <a:t>Tesco</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0E7E6"/>
                    </a:solidFill>
                  </a:tcPr>
                </a:tc>
              </a:tr>
              <a:tr h="2355269">
                <a:tc>
                  <a:txBody>
                    <a:bodyPr/>
                    <a:lstStyle/>
                    <a:p>
                      <a:pPr algn="l" defTabSz="457200"/>
                      <a:r>
                        <a:rPr sz="3500"/>
                        <a:t>Receivable Days</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E0CCCA"/>
                    </a:solidFill>
                  </a:tcPr>
                </a:tc>
                <a:tc>
                  <a:txBody>
                    <a:bodyPr/>
                    <a:lstStyle/>
                    <a:p>
                      <a:pPr algn="l" defTabSz="457200"/>
                      <a:r>
                        <a:rPr sz="3500"/>
                        <a:t>7</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E0CCCA"/>
                    </a:solidFill>
                  </a:tcPr>
                </a:tc>
                <a:tc>
                  <a:txBody>
                    <a:bodyPr/>
                    <a:lstStyle/>
                    <a:p>
                      <a:pPr algn="l" defTabSz="457200"/>
                      <a:r>
                        <a:rPr sz="3500"/>
                        <a:t>11–13</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E0CCCA"/>
                    </a:solidFill>
                  </a:tcPr>
                </a:tc>
                <a:tc>
                  <a:txBody>
                    <a:bodyPr/>
                    <a:lstStyle/>
                    <a:p>
                      <a:pPr algn="l" defTabSz="457200"/>
                      <a:r>
                        <a:rPr sz="3500"/>
                        <a:t>Tesco</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E0CCCA"/>
                    </a:solidFill>
                  </a:tcPr>
                </a:tc>
              </a:tr>
            </a:tbl>
          </a:graphicData>
        </a:graphic>
      </p:graphicFrame>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AI Analysis &amp; Validation"/>
          <p:cNvSpPr txBox="1"/>
          <p:nvPr>
            <p:ph type="title"/>
          </p:nvPr>
        </p:nvSpPr>
        <p:spPr>
          <a:prstGeom prst="rect">
            <a:avLst/>
          </a:prstGeom>
        </p:spPr>
        <p:txBody>
          <a:bodyPr/>
          <a:lstStyle/>
          <a:p>
            <a:pPr/>
            <a:r>
              <a:t>AI Analysis &amp; Validation</a:t>
            </a:r>
          </a:p>
        </p:txBody>
      </p:sp>
      <p:sp>
        <p:nvSpPr>
          <p:cNvPr id="199" name="Tesco plc"/>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Tesco plc</a:t>
            </a:r>
          </a:p>
        </p:txBody>
      </p:sp>
      <p:sp>
        <p:nvSpPr>
          <p:cNvPr id="200" name="Claude AI thoroughly analyzed all ratios but some if it analysis were not validated by us at Platinum Consultants plc…"/>
          <p:cNvSpPr txBox="1"/>
          <p:nvPr>
            <p:ph type="body" idx="1"/>
          </p:nvPr>
        </p:nvSpPr>
        <p:spPr>
          <a:prstGeom prst="rect">
            <a:avLst/>
          </a:prstGeom>
        </p:spPr>
        <p:txBody>
          <a:bodyPr/>
          <a:lstStyle/>
          <a:p>
            <a:pPr marL="463295" indent="-463295" defTabSz="1853137">
              <a:spcBef>
                <a:spcPts val="3400"/>
              </a:spcBef>
              <a:defRPr sz="3648"/>
            </a:pPr>
            <a:r>
              <a:t>Claude AI thoroughly analyzed all ratios but some if it analysis were not validated by us at Platinum Consultants plc</a:t>
            </a:r>
          </a:p>
          <a:p>
            <a:pPr marL="463295" indent="-463295" defTabSz="1853137">
              <a:spcBef>
                <a:spcPts val="3400"/>
              </a:spcBef>
              <a:defRPr sz="3648"/>
            </a:pPr>
            <a:r>
              <a:t>Its analysis on Tesco’s net profit margin is that it Improved steadily from 1.1% to 1.7% to 2.3%. FY2023 net margin was heavily depressed by a large net impairment charge on property/leases/goodwill (c.£1bn) taken through operating profit; with no equivalent one-off in FY2024/FY2025, margin recovered. FY2025 also benefits from lower net finance costs and a smaller drag from discontinued operations (only £26m loss vs £572m loss in FY2024, when the Banking disposal completed).</a:t>
            </a:r>
          </a:p>
          <a:p>
            <a:pPr marL="463295" indent="-463295" defTabSz="1853137">
              <a:spcBef>
                <a:spcPts val="3400"/>
              </a:spcBef>
              <a:defRPr sz="3648"/>
            </a:pPr>
            <a:r>
              <a:t>Our validation is that Claude AI used profit attributable to owners / revenue for its net profit margins for Tesco, however the formula for our manual calculation was net profit before tax/sales. Our calculations are different from Claude AI for all three years. Claude AI calculation is not validated for this analysis.</a:t>
            </a:r>
            <a:endParaRPr sz="912">
              <a:latin typeface="Times Roman"/>
              <a:ea typeface="Times Roman"/>
              <a:cs typeface="Times Roman"/>
              <a:sym typeface="Times Roman"/>
            </a:endParaRPr>
          </a:p>
          <a:p>
            <a:pPr marL="0" indent="0" defTabSz="347472">
              <a:lnSpc>
                <a:spcPct val="100000"/>
              </a:lnSpc>
              <a:spcBef>
                <a:spcPts val="0"/>
              </a:spcBef>
              <a:buSzTx/>
              <a:buNone/>
              <a:defRPr sz="912">
                <a:latin typeface="Times Roman"/>
                <a:ea typeface="Times Roman"/>
                <a:cs typeface="Times Roman"/>
                <a:sym typeface="Times Roman"/>
              </a:defRPr>
            </a:pPr>
          </a:p>
          <a:p>
            <a:pPr marL="463295" indent="-463295" defTabSz="1853137">
              <a:spcBef>
                <a:spcPts val="3400"/>
              </a:spcBef>
              <a:defRPr sz="3648"/>
            </a:pPr>
          </a:p>
          <a:p>
            <a:pPr marL="463295" indent="-463295" defTabSz="1853137">
              <a:spcBef>
                <a:spcPts val="3400"/>
              </a:spcBef>
              <a:defRPr sz="3648"/>
            </a:pPr>
            <a:endParaRPr sz="912">
              <a:latin typeface="Times Roman"/>
              <a:ea typeface="Times Roman"/>
              <a:cs typeface="Times Roman"/>
              <a:sym typeface="Times Roman"/>
            </a:endParaRP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2" name="Market and Share Price Analysis"/>
          <p:cNvSpPr txBox="1"/>
          <p:nvPr>
            <p:ph type="title"/>
          </p:nvPr>
        </p:nvSpPr>
        <p:spPr>
          <a:prstGeom prst="rect">
            <a:avLst/>
          </a:prstGeom>
        </p:spPr>
        <p:txBody>
          <a:bodyPr/>
          <a:lstStyle>
            <a:lvl1pPr defTabSz="457200">
              <a:lnSpc>
                <a:spcPct val="100000"/>
              </a:lnSpc>
              <a:defRPr spc="0"/>
            </a:lvl1pPr>
          </a:lstStyle>
          <a:p>
            <a:pPr/>
            <a:r>
              <a:t>Market and Share Price Analysis  </a:t>
            </a:r>
          </a:p>
        </p:txBody>
      </p:sp>
      <p:sp>
        <p:nvSpPr>
          <p:cNvPr id="203" name="Tesco and Loblaw"/>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Tesco and Loblaw</a:t>
            </a:r>
          </a:p>
        </p:txBody>
      </p:sp>
      <p:sp>
        <p:nvSpPr>
          <p:cNvPr id="204" name="Investor confidence has improved in both companies for the years between 2023 and 2025 based on market performance.…"/>
          <p:cNvSpPr txBox="1"/>
          <p:nvPr>
            <p:ph type="body" idx="1"/>
          </p:nvPr>
        </p:nvSpPr>
        <p:spPr>
          <a:prstGeom prst="rect">
            <a:avLst/>
          </a:prstGeom>
        </p:spPr>
        <p:txBody>
          <a:bodyPr/>
          <a:lstStyle/>
          <a:p>
            <a:pPr marL="603504" indent="-603504" defTabSz="2413955">
              <a:spcBef>
                <a:spcPts val="4400"/>
              </a:spcBef>
              <a:defRPr sz="4752"/>
            </a:pPr>
            <a:r>
              <a:t>Investor confidence has improved in both companies for the years between 2023 and 2025 based on market performance.</a:t>
            </a:r>
          </a:p>
          <a:p>
            <a:pPr marL="603504" indent="-603504" defTabSz="2413955">
              <a:spcBef>
                <a:spcPts val="4400"/>
              </a:spcBef>
              <a:defRPr sz="4752"/>
            </a:pPr>
            <a:r>
              <a:t>Stock price of Tesco was approximately 250 pence in early 2023 and has increased to approximately 490 pence by mid-2025.</a:t>
            </a:r>
          </a:p>
          <a:p>
            <a:pPr marL="603504" indent="-603504" defTabSz="2413955">
              <a:spcBef>
                <a:spcPts val="4400"/>
              </a:spcBef>
              <a:defRPr sz="4752"/>
            </a:pPr>
            <a:r>
              <a:t>Loblaw's share price increased from approximately CAD 29 to CAD 66.</a:t>
            </a:r>
          </a:p>
          <a:p>
            <a:pPr marL="603504" indent="-603504" defTabSz="2413955">
              <a:spcBef>
                <a:spcPts val="4400"/>
              </a:spcBef>
              <a:defRPr sz="4752"/>
            </a:pPr>
            <a:r>
              <a:t>Tesco's share price 489.50 pence was higher than its 50-day moving average, which was equal to 456.48 pence.</a:t>
            </a:r>
          </a:p>
          <a:p>
            <a:pPr marL="603504" indent="-603504" defTabSz="2413955">
              <a:spcBef>
                <a:spcPts val="4400"/>
              </a:spcBef>
              <a:defRPr sz="4752"/>
            </a:pPr>
            <a:r>
              <a:t>Loblaw's share price CAD 65.81 also traded above the 50-day moving average CAD 61.51</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6" name="Market Performance"/>
          <p:cNvSpPr txBox="1"/>
          <p:nvPr>
            <p:ph type="title"/>
          </p:nvPr>
        </p:nvSpPr>
        <p:spPr>
          <a:prstGeom prst="rect">
            <a:avLst/>
          </a:prstGeom>
        </p:spPr>
        <p:txBody>
          <a:bodyPr/>
          <a:lstStyle/>
          <a:p>
            <a:pPr/>
            <a:r>
              <a:t>Market Performance</a:t>
            </a:r>
          </a:p>
        </p:txBody>
      </p:sp>
      <p:sp>
        <p:nvSpPr>
          <p:cNvPr id="207" name="Tesco and Loblaw"/>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Tesco and Loblaw</a:t>
            </a:r>
          </a:p>
        </p:txBody>
      </p:sp>
      <p:graphicFrame>
        <p:nvGraphicFramePr>
          <p:cNvPr id="208" name="Content Placeholder 3"/>
          <p:cNvGraphicFramePr/>
          <p:nvPr/>
        </p:nvGraphicFramePr>
        <p:xfrm>
          <a:off x="779759" y="3778443"/>
          <a:ext cx="22837182" cy="9707270"/>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5706120"/>
                <a:gridCol w="5706120"/>
                <a:gridCol w="5706120"/>
                <a:gridCol w="5706120"/>
              </a:tblGrid>
              <a:tr h="1502555">
                <a:tc>
                  <a:txBody>
                    <a:bodyPr/>
                    <a:lstStyle/>
                    <a:p>
                      <a:pPr algn="l" defTabSz="457200">
                        <a:defRPr b="0"/>
                      </a:pPr>
                      <a:r>
                        <a:rPr b="1" sz="4000">
                          <a:solidFill>
                            <a:srgbClr val="FFFFFF"/>
                          </a:solidFill>
                        </a:rPr>
                        <a:t>Indicator</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38100">
                      <a:solidFill>
                        <a:srgbClr val="FFFFFF"/>
                      </a:solidFill>
                    </a:lnB>
                    <a:solidFill>
                      <a:srgbClr val="A53010"/>
                    </a:solidFill>
                  </a:tcPr>
                </a:tc>
                <a:tc>
                  <a:txBody>
                    <a:bodyPr/>
                    <a:lstStyle/>
                    <a:p>
                      <a:pPr algn="l" defTabSz="457200">
                        <a:defRPr b="0"/>
                      </a:pPr>
                      <a:r>
                        <a:rPr b="1" sz="4000">
                          <a:solidFill>
                            <a:srgbClr val="FFFFFF"/>
                          </a:solidFill>
                        </a:rPr>
                        <a:t>Tesco</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38100">
                      <a:solidFill>
                        <a:srgbClr val="FFFFFF"/>
                      </a:solidFill>
                    </a:lnB>
                    <a:solidFill>
                      <a:srgbClr val="A53010"/>
                    </a:solidFill>
                  </a:tcPr>
                </a:tc>
                <a:tc>
                  <a:txBody>
                    <a:bodyPr/>
                    <a:lstStyle/>
                    <a:p>
                      <a:pPr algn="l" defTabSz="457200">
                        <a:defRPr b="0"/>
                      </a:pPr>
                      <a:r>
                        <a:rPr b="1" sz="4000">
                          <a:solidFill>
                            <a:srgbClr val="FFFFFF"/>
                          </a:solidFill>
                        </a:rPr>
                        <a:t>Loblaw</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38100">
                      <a:solidFill>
                        <a:srgbClr val="FFFFFF"/>
                      </a:solidFill>
                    </a:lnB>
                    <a:solidFill>
                      <a:srgbClr val="A53010"/>
                    </a:solidFill>
                  </a:tcPr>
                </a:tc>
                <a:tc>
                  <a:txBody>
                    <a:bodyPr/>
                    <a:lstStyle/>
                    <a:p>
                      <a:pPr algn="l" defTabSz="457200">
                        <a:defRPr b="0"/>
                      </a:pPr>
                      <a:r>
                        <a:rPr b="1" sz="4000">
                          <a:solidFill>
                            <a:srgbClr val="FFFFFF"/>
                          </a:solidFill>
                        </a:rPr>
                        <a:t>Winner</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38100">
                      <a:solidFill>
                        <a:srgbClr val="FFFFFF"/>
                      </a:solidFill>
                    </a:lnB>
                    <a:solidFill>
                      <a:srgbClr val="A53010"/>
                    </a:solidFill>
                  </a:tcPr>
                </a:tc>
              </a:tr>
              <a:tr h="1502555">
                <a:tc>
                  <a:txBody>
                    <a:bodyPr/>
                    <a:lstStyle/>
                    <a:p>
                      <a:pPr algn="l" defTabSz="457200"/>
                      <a:r>
                        <a:rPr sz="3500"/>
                        <a:t>Share Price Trend</a:t>
                      </a:r>
                    </a:p>
                  </a:txBody>
                  <a:tcPr marL="45720" marR="45720" marT="45720" marB="45720" anchor="ctr" anchorCtr="0" horzOverflow="overflow">
                    <a:lnL w="12700">
                      <a:solidFill>
                        <a:srgbClr val="FFFFFF"/>
                      </a:solidFill>
                    </a:lnL>
                    <a:lnR w="12700">
                      <a:solidFill>
                        <a:srgbClr val="FFFFFF"/>
                      </a:solidFill>
                    </a:lnR>
                    <a:lnT w="38100">
                      <a:solidFill>
                        <a:srgbClr val="FFFFFF"/>
                      </a:solidFill>
                    </a:lnT>
                    <a:lnB w="12700">
                      <a:solidFill>
                        <a:srgbClr val="FFFFFF"/>
                      </a:solidFill>
                    </a:lnB>
                    <a:solidFill>
                      <a:srgbClr val="E0CCCA"/>
                    </a:solidFill>
                  </a:tcPr>
                </a:tc>
                <a:tc>
                  <a:txBody>
                    <a:bodyPr/>
                    <a:lstStyle/>
                    <a:p>
                      <a:pPr algn="l" defTabSz="457200"/>
                      <a:r>
                        <a:rPr sz="3500"/>
                        <a:t>Strong</a:t>
                      </a:r>
                    </a:p>
                  </a:txBody>
                  <a:tcPr marL="45720" marR="45720" marT="45720" marB="45720" anchor="ctr" anchorCtr="0" horzOverflow="overflow">
                    <a:lnL w="12700">
                      <a:solidFill>
                        <a:srgbClr val="FFFFFF"/>
                      </a:solidFill>
                    </a:lnL>
                    <a:lnR w="12700">
                      <a:solidFill>
                        <a:srgbClr val="FFFFFF"/>
                      </a:solidFill>
                    </a:lnR>
                    <a:lnT w="38100">
                      <a:solidFill>
                        <a:srgbClr val="FFFFFF"/>
                      </a:solidFill>
                    </a:lnT>
                    <a:lnB w="12700">
                      <a:solidFill>
                        <a:srgbClr val="FFFFFF"/>
                      </a:solidFill>
                    </a:lnB>
                    <a:solidFill>
                      <a:srgbClr val="E0CCCA"/>
                    </a:solidFill>
                  </a:tcPr>
                </a:tc>
                <a:tc>
                  <a:txBody>
                    <a:bodyPr/>
                    <a:lstStyle/>
                    <a:p>
                      <a:pPr algn="l" defTabSz="457200"/>
                      <a:r>
                        <a:rPr sz="3500"/>
                        <a:t>Strong</a:t>
                      </a:r>
                    </a:p>
                  </a:txBody>
                  <a:tcPr marL="45720" marR="45720" marT="45720" marB="45720" anchor="ctr" anchorCtr="0" horzOverflow="overflow">
                    <a:lnL w="12700">
                      <a:solidFill>
                        <a:srgbClr val="FFFFFF"/>
                      </a:solidFill>
                    </a:lnL>
                    <a:lnR w="12700">
                      <a:solidFill>
                        <a:srgbClr val="FFFFFF"/>
                      </a:solidFill>
                    </a:lnR>
                    <a:lnT w="38100">
                      <a:solidFill>
                        <a:srgbClr val="FFFFFF"/>
                      </a:solidFill>
                    </a:lnT>
                    <a:lnB w="12700">
                      <a:solidFill>
                        <a:srgbClr val="FFFFFF"/>
                      </a:solidFill>
                    </a:lnB>
                    <a:solidFill>
                      <a:srgbClr val="E0CCCA"/>
                    </a:solidFill>
                  </a:tcPr>
                </a:tc>
                <a:tc>
                  <a:txBody>
                    <a:bodyPr/>
                    <a:lstStyle/>
                    <a:p>
                      <a:pPr algn="l" defTabSz="457200"/>
                      <a:r>
                        <a:rPr sz="3500"/>
                        <a:t>Loblaw</a:t>
                      </a:r>
                    </a:p>
                  </a:txBody>
                  <a:tcPr marL="45720" marR="45720" marT="45720" marB="45720" anchor="ctr" anchorCtr="0" horzOverflow="overflow">
                    <a:lnL w="12700">
                      <a:solidFill>
                        <a:srgbClr val="FFFFFF"/>
                      </a:solidFill>
                    </a:lnL>
                    <a:lnR w="12700">
                      <a:solidFill>
                        <a:srgbClr val="FFFFFF"/>
                      </a:solidFill>
                    </a:lnR>
                    <a:lnT w="38100">
                      <a:solidFill>
                        <a:srgbClr val="FFFFFF"/>
                      </a:solidFill>
                    </a:lnT>
                    <a:lnB w="12700">
                      <a:solidFill>
                        <a:srgbClr val="FFFFFF"/>
                      </a:solidFill>
                    </a:lnB>
                    <a:solidFill>
                      <a:srgbClr val="E0CCCA"/>
                    </a:solidFill>
                  </a:tcPr>
                </a:tc>
              </a:tr>
              <a:tr h="2593451">
                <a:tc>
                  <a:txBody>
                    <a:bodyPr/>
                    <a:lstStyle/>
                    <a:p>
                      <a:pPr algn="l" defTabSz="457200"/>
                      <a:r>
                        <a:rPr sz="3500"/>
                        <a:t>50-Day Moving Average</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0E7E6"/>
                    </a:solidFill>
                  </a:tcPr>
                </a:tc>
                <a:tc>
                  <a:txBody>
                    <a:bodyPr/>
                    <a:lstStyle/>
                    <a:p>
                      <a:pPr algn="l" defTabSz="457200"/>
                      <a:r>
                        <a:rPr sz="3500"/>
                        <a:t>Above MA</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0E7E6"/>
                    </a:solidFill>
                  </a:tcPr>
                </a:tc>
                <a:tc>
                  <a:txBody>
                    <a:bodyPr/>
                    <a:lstStyle/>
                    <a:p>
                      <a:pPr algn="l" defTabSz="457200"/>
                      <a:r>
                        <a:rPr sz="3500"/>
                        <a:t>Above MA</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0E7E6"/>
                    </a:solidFill>
                  </a:tcPr>
                </a:tc>
                <a:tc>
                  <a:txBody>
                    <a:bodyPr/>
                    <a:lstStyle/>
                    <a:p>
                      <a:pPr algn="l" defTabSz="457200"/>
                      <a:r>
                        <a:rPr sz="3500"/>
                        <a:t>Tie</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0E7E6"/>
                    </a:solidFill>
                  </a:tcPr>
                </a:tc>
              </a:tr>
              <a:tr h="2593451">
                <a:tc>
                  <a:txBody>
                    <a:bodyPr/>
                    <a:lstStyle/>
                    <a:p>
                      <a:pPr algn="l" defTabSz="457200"/>
                      <a:r>
                        <a:rPr sz="3500"/>
                        <a:t>Reuters News</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E0CCCA"/>
                    </a:solidFill>
                  </a:tcPr>
                </a:tc>
                <a:tc>
                  <a:txBody>
                    <a:bodyPr/>
                    <a:lstStyle/>
                    <a:p>
                      <a:pPr algn="l" defTabSz="457200"/>
                      <a:r>
                        <a:rPr sz="3500"/>
                        <a:t>Market share gains, upgraded forecast</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E0CCCA"/>
                    </a:solidFill>
                  </a:tcPr>
                </a:tc>
                <a:tc>
                  <a:txBody>
                    <a:bodyPr/>
                    <a:lstStyle/>
                    <a:p>
                      <a:pPr algn="l" defTabSz="457200"/>
                      <a:r>
                        <a:rPr sz="3500"/>
                        <a:t>Expansion &amp; profit growth</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E0CCCA"/>
                    </a:solidFill>
                  </a:tcPr>
                </a:tc>
                <a:tc>
                  <a:txBody>
                    <a:bodyPr/>
                    <a:lstStyle/>
                    <a:p>
                      <a:pPr algn="l" defTabSz="457200"/>
                      <a:r>
                        <a:rPr sz="3500"/>
                        <a:t>Tesco</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E0CCCA"/>
                    </a:solidFill>
                  </a:tcPr>
                </a:tc>
              </a:tr>
              <a:tr h="1502555">
                <a:tc>
                  <a:txBody>
                    <a:bodyPr/>
                    <a:lstStyle/>
                    <a:p>
                      <a:pPr algn="l" defTabSz="457200">
                        <a:defRPr>
                          <a:latin typeface="Century Gothic"/>
                          <a:ea typeface="Century Gothic"/>
                          <a:cs typeface="Century Gothic"/>
                          <a:sym typeface="Century Gothic"/>
                        </a:defRPr>
                      </a:pP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0E7E6"/>
                    </a:solidFill>
                  </a:tcPr>
                </a:tc>
                <a:tc>
                  <a:txBody>
                    <a:bodyPr/>
                    <a:lstStyle/>
                    <a:p>
                      <a:pPr algn="l" defTabSz="457200">
                        <a:defRPr>
                          <a:latin typeface="Century Gothic"/>
                          <a:ea typeface="Century Gothic"/>
                          <a:cs typeface="Century Gothic"/>
                          <a:sym typeface="Century Gothic"/>
                        </a:defRPr>
                      </a:pP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0E7E6"/>
                    </a:solidFill>
                  </a:tcPr>
                </a:tc>
                <a:tc>
                  <a:txBody>
                    <a:bodyPr/>
                    <a:lstStyle/>
                    <a:p>
                      <a:pPr algn="l" defTabSz="457200">
                        <a:defRPr>
                          <a:latin typeface="Century Gothic"/>
                          <a:ea typeface="Century Gothic"/>
                          <a:cs typeface="Century Gothic"/>
                          <a:sym typeface="Century Gothic"/>
                        </a:defRPr>
                      </a:pP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0E7E6"/>
                    </a:solidFill>
                  </a:tcPr>
                </a:tc>
                <a:tc>
                  <a:txBody>
                    <a:bodyPr/>
                    <a:lstStyle/>
                    <a:p>
                      <a:pPr algn="l" defTabSz="457200">
                        <a:defRPr>
                          <a:latin typeface="Century Gothic"/>
                          <a:ea typeface="Century Gothic"/>
                          <a:cs typeface="Century Gothic"/>
                          <a:sym typeface="Century Gothic"/>
                        </a:defRPr>
                      </a:pP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0E7E6"/>
                    </a:solidFill>
                  </a:tcPr>
                </a:tc>
              </a:tr>
            </a:tbl>
          </a:graphicData>
        </a:graphic>
      </p:graphicFrame>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0" name="Charts"/>
          <p:cNvSpPr txBox="1"/>
          <p:nvPr>
            <p:ph type="title"/>
          </p:nvPr>
        </p:nvSpPr>
        <p:spPr>
          <a:prstGeom prst="rect">
            <a:avLst/>
          </a:prstGeom>
        </p:spPr>
        <p:txBody>
          <a:bodyPr/>
          <a:lstStyle/>
          <a:p>
            <a:pPr/>
            <a:r>
              <a:t>Charts</a:t>
            </a:r>
          </a:p>
        </p:txBody>
      </p:sp>
      <p:sp>
        <p:nvSpPr>
          <p:cNvPr id="211" name="Share Price Trend"/>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Share Price Trend</a:t>
            </a:r>
          </a:p>
        </p:txBody>
      </p:sp>
      <p:pic>
        <p:nvPicPr>
          <p:cNvPr id="212" name="Picture 4" descr="Picture 4"/>
          <p:cNvPicPr>
            <a:picLocks noChangeAspect="1"/>
          </p:cNvPicPr>
          <p:nvPr/>
        </p:nvPicPr>
        <p:blipFill>
          <a:blip r:embed="rId2">
            <a:extLst/>
          </a:blip>
          <a:stretch>
            <a:fillRect/>
          </a:stretch>
        </p:blipFill>
        <p:spPr>
          <a:xfrm>
            <a:off x="998878" y="3891904"/>
            <a:ext cx="10622962" cy="7792777"/>
          </a:xfrm>
          <a:prstGeom prst="rect">
            <a:avLst/>
          </a:prstGeom>
          <a:ln w="12700">
            <a:miter lim="400000"/>
          </a:ln>
        </p:spPr>
      </p:pic>
      <p:pic>
        <p:nvPicPr>
          <p:cNvPr id="213" name="Picture 5" descr="Picture 5"/>
          <p:cNvPicPr>
            <a:picLocks noChangeAspect="1"/>
          </p:cNvPicPr>
          <p:nvPr/>
        </p:nvPicPr>
        <p:blipFill>
          <a:blip r:embed="rId3">
            <a:extLst/>
          </a:blip>
          <a:stretch>
            <a:fillRect/>
          </a:stretch>
        </p:blipFill>
        <p:spPr>
          <a:xfrm>
            <a:off x="12231508" y="4088916"/>
            <a:ext cx="11073646" cy="7398752"/>
          </a:xfrm>
          <a:prstGeom prst="rect">
            <a:avLst/>
          </a:prstGeom>
          <a:ln w="12700">
            <a:miter lim="400000"/>
          </a:ln>
        </p:spPr>
      </p:pic>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5" name="Charts"/>
          <p:cNvSpPr txBox="1"/>
          <p:nvPr>
            <p:ph type="title"/>
          </p:nvPr>
        </p:nvSpPr>
        <p:spPr>
          <a:prstGeom prst="rect">
            <a:avLst/>
          </a:prstGeom>
        </p:spPr>
        <p:txBody>
          <a:bodyPr/>
          <a:lstStyle/>
          <a:p>
            <a:pPr/>
            <a:r>
              <a:t>Charts</a:t>
            </a:r>
          </a:p>
        </p:txBody>
      </p:sp>
      <p:sp>
        <p:nvSpPr>
          <p:cNvPr id="216" name="Comparative share price trend"/>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Comparative share price trend</a:t>
            </a:r>
          </a:p>
        </p:txBody>
      </p:sp>
      <p:pic>
        <p:nvPicPr>
          <p:cNvPr id="217" name="Picture 4" descr="Picture 4"/>
          <p:cNvPicPr>
            <a:picLocks noChangeAspect="1"/>
          </p:cNvPicPr>
          <p:nvPr/>
        </p:nvPicPr>
        <p:blipFill>
          <a:blip r:embed="rId2">
            <a:extLst/>
          </a:blip>
          <a:stretch>
            <a:fillRect/>
          </a:stretch>
        </p:blipFill>
        <p:spPr>
          <a:xfrm>
            <a:off x="3284464" y="3657435"/>
            <a:ext cx="19629868" cy="9438149"/>
          </a:xfrm>
          <a:prstGeom prst="rect">
            <a:avLst/>
          </a:prstGeom>
          <a:ln w="12700">
            <a:miter lim="400000"/>
          </a:ln>
        </p:spPr>
      </p:pic>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9" name="Future Prospects"/>
          <p:cNvSpPr txBox="1"/>
          <p:nvPr>
            <p:ph type="title"/>
          </p:nvPr>
        </p:nvSpPr>
        <p:spPr>
          <a:prstGeom prst="rect">
            <a:avLst/>
          </a:prstGeom>
        </p:spPr>
        <p:txBody>
          <a:bodyPr/>
          <a:lstStyle>
            <a:lvl1pPr defTabSz="457200">
              <a:lnSpc>
                <a:spcPct val="100000"/>
              </a:lnSpc>
              <a:defRPr spc="0"/>
            </a:lvl1pPr>
          </a:lstStyle>
          <a:p>
            <a:pPr/>
            <a:r>
              <a:t>Future Prospects</a:t>
            </a:r>
          </a:p>
        </p:txBody>
      </p:sp>
      <p:sp>
        <p:nvSpPr>
          <p:cNvPr id="220" name="Tesco &amp; Loblaw"/>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Tesco &amp; Loblaw</a:t>
            </a:r>
          </a:p>
        </p:txBody>
      </p:sp>
      <p:sp>
        <p:nvSpPr>
          <p:cNvPr id="221" name="Tesco is currently exploring plans on selling its central and eastern European operations due to market pressure from its competitors.…"/>
          <p:cNvSpPr txBox="1"/>
          <p:nvPr>
            <p:ph type="body" idx="1"/>
          </p:nvPr>
        </p:nvSpPr>
        <p:spPr>
          <a:prstGeom prst="rect">
            <a:avLst/>
          </a:prstGeom>
        </p:spPr>
        <p:txBody>
          <a:bodyPr/>
          <a:lstStyle/>
          <a:p>
            <a:pPr/>
            <a:r>
              <a:t>Tesco is currently exploring plans on selling its central and eastern European operations due to market pressure from its competitors.</a:t>
            </a:r>
          </a:p>
          <a:p>
            <a:pPr/>
            <a:r>
              <a:t>Tesco shareholders would not be affected by this because bringing the business back home has proven to have a positive effect on the share price which has doubled in the past five years.</a:t>
            </a:r>
          </a:p>
          <a:p>
            <a:pPr/>
            <a:r>
              <a:t>Successes in Loblaw’s branded company’s have resulted in its quarterly dividend to be increased from 10 percent to 15.5 percent per common share</a:t>
            </a:r>
          </a:p>
          <a:p>
            <a:pPr/>
            <a:r>
              <a:t>These successes has further motivated Loblaw in its plan to invest C$ 2.4bn into setting up 70 news stores across Canada.</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3" name="Investment Recommendation"/>
          <p:cNvSpPr txBox="1"/>
          <p:nvPr>
            <p:ph type="title"/>
          </p:nvPr>
        </p:nvSpPr>
        <p:spPr>
          <a:prstGeom prst="rect">
            <a:avLst/>
          </a:prstGeom>
        </p:spPr>
        <p:txBody>
          <a:bodyPr/>
          <a:lstStyle/>
          <a:p>
            <a:pPr/>
            <a:r>
              <a:t>Investment Recommendation</a:t>
            </a:r>
          </a:p>
        </p:txBody>
      </p:sp>
      <p:sp>
        <p:nvSpPr>
          <p:cNvPr id="224" name="Tesco plc"/>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lvl="1" marL="0" indent="457200" defTabSz="825500">
              <a:lnSpc>
                <a:spcPct val="100000"/>
              </a:lnSpc>
              <a:spcBef>
                <a:spcPts val="0"/>
              </a:spcBef>
              <a:buSzTx/>
              <a:buNone/>
              <a:defRPr b="1" sz="5500"/>
            </a:pPr>
            <a:r>
              <a:t>Tesco plc</a:t>
            </a:r>
          </a:p>
        </p:txBody>
      </p:sp>
      <p:sp>
        <p:nvSpPr>
          <p:cNvPr id="225" name="Tesco plc is recommended for investment. This recommendation is mainly based on the ongoing financial improvements made by Tesco.…"/>
          <p:cNvSpPr txBox="1"/>
          <p:nvPr>
            <p:ph type="body" idx="1"/>
          </p:nvPr>
        </p:nvSpPr>
        <p:spPr>
          <a:prstGeom prst="rect">
            <a:avLst/>
          </a:prstGeom>
        </p:spPr>
        <p:txBody>
          <a:bodyPr/>
          <a:lstStyle/>
          <a:p>
            <a:pPr marL="591312" indent="-591312" defTabSz="2365188">
              <a:spcBef>
                <a:spcPts val="4300"/>
              </a:spcBef>
              <a:defRPr sz="4656"/>
            </a:pPr>
            <a:r>
              <a:t>Tesco plc is recommended for investment. This recommendation is mainly based on the ongoing financial improvements made by Tesco.</a:t>
            </a:r>
          </a:p>
          <a:p>
            <a:pPr marL="591312" indent="-591312" defTabSz="2365188">
              <a:spcBef>
                <a:spcPts val="4300"/>
              </a:spcBef>
              <a:defRPr sz="4656"/>
            </a:pPr>
            <a:r>
              <a:t>The gross profit margin increased from 5.57% in 2023 to 7.22% in 2025, and Return on Assets increased from 2.17% to 5.70%.</a:t>
            </a:r>
          </a:p>
          <a:p>
            <a:pPr marL="591312" indent="-591312" defTabSz="2365188">
              <a:spcBef>
                <a:spcPts val="4300"/>
              </a:spcBef>
              <a:defRPr sz="4656"/>
            </a:pPr>
            <a:r>
              <a:t>This decision is also  supported by the market analysis. The share price of Tesco increased from about 250 pence in early 2023 to 490 pence </a:t>
            </a:r>
          </a:p>
          <a:p>
            <a:pPr marL="591312" indent="-591312" defTabSz="2365188">
              <a:spcBef>
                <a:spcPts val="4300"/>
              </a:spcBef>
              <a:defRPr sz="4656"/>
            </a:pPr>
            <a:r>
              <a:t>In mid-2025, with Tesco's share price of 489.50 pence always being higher than its 50-day moving average, which was equal to 456.48 pence.</a:t>
            </a:r>
          </a:p>
          <a:p>
            <a:pPr marL="591312" indent="-591312" defTabSz="2365188">
              <a:spcBef>
                <a:spcPts val="4300"/>
              </a:spcBef>
              <a:defRPr sz="4656"/>
            </a:pPr>
            <a:r>
              <a:t>This decision was made on the basis of future value rather than existing margins </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7" name="Final Investment Decision"/>
          <p:cNvSpPr txBox="1"/>
          <p:nvPr>
            <p:ph type="title"/>
          </p:nvPr>
        </p:nvSpPr>
        <p:spPr>
          <a:prstGeom prst="rect">
            <a:avLst/>
          </a:prstGeom>
        </p:spPr>
        <p:txBody>
          <a:bodyPr/>
          <a:lstStyle/>
          <a:p>
            <a:pPr/>
            <a:r>
              <a:t>Final Investment Decision</a:t>
            </a:r>
          </a:p>
        </p:txBody>
      </p:sp>
      <p:graphicFrame>
        <p:nvGraphicFramePr>
          <p:cNvPr id="228" name="Content Placeholder 3"/>
          <p:cNvGraphicFramePr/>
          <p:nvPr/>
        </p:nvGraphicFramePr>
        <p:xfrm>
          <a:off x="886053" y="3079431"/>
          <a:ext cx="23118972" cy="9948234"/>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11553136"/>
                <a:gridCol w="11553136"/>
              </a:tblGrid>
              <a:tr h="1132171">
                <a:tc>
                  <a:txBody>
                    <a:bodyPr/>
                    <a:lstStyle/>
                    <a:p>
                      <a:pPr algn="l" defTabSz="457200">
                        <a:defRPr b="0"/>
                      </a:pPr>
                      <a:r>
                        <a:rPr b="1" sz="4000">
                          <a:solidFill>
                            <a:srgbClr val="FFFFFF"/>
                          </a:solidFill>
                        </a:rPr>
                        <a:t>Category</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38100">
                      <a:solidFill>
                        <a:srgbClr val="FFFFFF"/>
                      </a:solidFill>
                    </a:lnB>
                    <a:solidFill>
                      <a:srgbClr val="A53010"/>
                    </a:solidFill>
                  </a:tcPr>
                </a:tc>
                <a:tc>
                  <a:txBody>
                    <a:bodyPr/>
                    <a:lstStyle/>
                    <a:p>
                      <a:pPr algn="l" defTabSz="457200">
                        <a:defRPr b="0"/>
                      </a:pPr>
                      <a:r>
                        <a:rPr b="1" sz="4000">
                          <a:solidFill>
                            <a:srgbClr val="FFFFFF"/>
                          </a:solidFill>
                        </a:rPr>
                        <a:t>Winner</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38100">
                      <a:solidFill>
                        <a:srgbClr val="FFFFFF"/>
                      </a:solidFill>
                    </a:lnB>
                    <a:solidFill>
                      <a:srgbClr val="A53010"/>
                    </a:solidFill>
                  </a:tcPr>
                </a:tc>
              </a:tr>
              <a:tr h="1132171">
                <a:tc>
                  <a:txBody>
                    <a:bodyPr/>
                    <a:lstStyle/>
                    <a:p>
                      <a:pPr algn="l" defTabSz="457200"/>
                      <a:r>
                        <a:rPr sz="3500"/>
                        <a:t>Profitability Improvement</a:t>
                      </a:r>
                    </a:p>
                  </a:txBody>
                  <a:tcPr marL="45720" marR="45720" marT="45720" marB="45720" anchor="ctr" anchorCtr="0" horzOverflow="overflow">
                    <a:lnL w="12700">
                      <a:solidFill>
                        <a:srgbClr val="FFFFFF"/>
                      </a:solidFill>
                    </a:lnL>
                    <a:lnR w="12700">
                      <a:solidFill>
                        <a:srgbClr val="FFFFFF"/>
                      </a:solidFill>
                    </a:lnR>
                    <a:lnT w="38100">
                      <a:solidFill>
                        <a:srgbClr val="FFFFFF"/>
                      </a:solidFill>
                    </a:lnT>
                    <a:lnB w="12700">
                      <a:solidFill>
                        <a:srgbClr val="FFFFFF"/>
                      </a:solidFill>
                    </a:lnB>
                    <a:solidFill>
                      <a:srgbClr val="E0CCCA"/>
                    </a:solidFill>
                  </a:tcPr>
                </a:tc>
                <a:tc>
                  <a:txBody>
                    <a:bodyPr/>
                    <a:lstStyle/>
                    <a:p>
                      <a:pPr algn="l" defTabSz="457200"/>
                      <a:r>
                        <a:rPr sz="3500"/>
                        <a:t>Tesco</a:t>
                      </a:r>
                    </a:p>
                  </a:txBody>
                  <a:tcPr marL="45720" marR="45720" marT="45720" marB="45720" anchor="ctr" anchorCtr="0" horzOverflow="overflow">
                    <a:lnL w="12700">
                      <a:solidFill>
                        <a:srgbClr val="FFFFFF"/>
                      </a:solidFill>
                    </a:lnL>
                    <a:lnR w="12700">
                      <a:solidFill>
                        <a:srgbClr val="FFFFFF"/>
                      </a:solidFill>
                    </a:lnR>
                    <a:lnT w="38100">
                      <a:solidFill>
                        <a:srgbClr val="FFFFFF"/>
                      </a:solidFill>
                    </a:lnT>
                    <a:lnB w="12700">
                      <a:solidFill>
                        <a:srgbClr val="FFFFFF"/>
                      </a:solidFill>
                    </a:lnB>
                    <a:solidFill>
                      <a:srgbClr val="E0CCCA"/>
                    </a:solidFill>
                  </a:tcPr>
                </a:tc>
              </a:tr>
              <a:tr h="1095884">
                <a:tc>
                  <a:txBody>
                    <a:bodyPr/>
                    <a:lstStyle/>
                    <a:p>
                      <a:pPr algn="l" defTabSz="457200"/>
                      <a:r>
                        <a:rPr sz="3500"/>
                        <a:t>Profit Margins</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0E7E6"/>
                    </a:solidFill>
                  </a:tcPr>
                </a:tc>
                <a:tc>
                  <a:txBody>
                    <a:bodyPr/>
                    <a:lstStyle/>
                    <a:p>
                      <a:pPr algn="l" defTabSz="457200"/>
                      <a:r>
                        <a:rPr sz="3500"/>
                        <a:t>Loblaw</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0E7E6"/>
                    </a:solidFill>
                  </a:tcPr>
                </a:tc>
              </a:tr>
              <a:tr h="1095884">
                <a:tc>
                  <a:txBody>
                    <a:bodyPr/>
                    <a:lstStyle/>
                    <a:p>
                      <a:pPr algn="l" defTabSz="457200"/>
                      <a:r>
                        <a:rPr sz="3500"/>
                        <a:t>Efficiency</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E0CCCA"/>
                    </a:solidFill>
                  </a:tcPr>
                </a:tc>
                <a:tc>
                  <a:txBody>
                    <a:bodyPr/>
                    <a:lstStyle/>
                    <a:p>
                      <a:pPr algn="l" defTabSz="457200"/>
                      <a:r>
                        <a:rPr sz="3500"/>
                        <a:t>Tesco</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E0CCCA"/>
                    </a:solidFill>
                  </a:tcPr>
                </a:tc>
              </a:tr>
              <a:tr h="1095884">
                <a:tc>
                  <a:txBody>
                    <a:bodyPr/>
                    <a:lstStyle/>
                    <a:p>
                      <a:pPr algn="l" defTabSz="457200"/>
                      <a:r>
                        <a:rPr sz="3500"/>
                        <a:t>Liquidity</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0E7E6"/>
                    </a:solidFill>
                  </a:tcPr>
                </a:tc>
                <a:tc>
                  <a:txBody>
                    <a:bodyPr/>
                    <a:lstStyle/>
                    <a:p>
                      <a:pPr algn="l" defTabSz="457200"/>
                      <a:r>
                        <a:rPr sz="3500"/>
                        <a:t>Tesco</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0E7E6"/>
                    </a:solidFill>
                  </a:tcPr>
                </a:tc>
              </a:tr>
              <a:tr h="1095884">
                <a:tc>
                  <a:txBody>
                    <a:bodyPr/>
                    <a:lstStyle/>
                    <a:p>
                      <a:pPr algn="l" defTabSz="457200"/>
                      <a:r>
                        <a:rPr sz="3500"/>
                        <a:t>Financial Risk</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E0CCCA"/>
                    </a:solidFill>
                  </a:tcPr>
                </a:tc>
                <a:tc>
                  <a:txBody>
                    <a:bodyPr/>
                    <a:lstStyle/>
                    <a:p>
                      <a:pPr algn="l" defTabSz="457200"/>
                      <a:r>
                        <a:rPr sz="3500"/>
                        <a:t>Tesco</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E0CCCA"/>
                    </a:solidFill>
                  </a:tcPr>
                </a:tc>
              </a:tr>
              <a:tr h="1095884">
                <a:tc>
                  <a:txBody>
                    <a:bodyPr/>
                    <a:lstStyle/>
                    <a:p>
                      <a:pPr algn="l" defTabSz="457200"/>
                      <a:r>
                        <a:rPr sz="3500"/>
                        <a:t>Market Performance</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0E7E6"/>
                    </a:solidFill>
                  </a:tcPr>
                </a:tc>
                <a:tc>
                  <a:txBody>
                    <a:bodyPr/>
                    <a:lstStyle/>
                    <a:p>
                      <a:pPr algn="l" defTabSz="457200"/>
                      <a:r>
                        <a:rPr sz="3500"/>
                        <a:t>Tesco</a:t>
                      </a:r>
                    </a:p>
                  </a:txBody>
                  <a:tcPr marL="45720" marR="45720" marT="45720" marB="45720" anchor="ctr"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0E7E6"/>
                    </a:solidFill>
                  </a:tcPr>
                </a:tc>
              </a:tr>
              <a:tr h="1095884">
                <a:tc>
                  <a:txBody>
                    <a:bodyPr/>
                    <a:lstStyle/>
                    <a:p>
                      <a:pPr algn="l" defTabSz="457200"/>
                      <a:r>
                        <a:rPr sz="3500"/>
                        <a:t>Future Growth</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E0CCCA"/>
                    </a:solidFill>
                  </a:tcPr>
                </a:tc>
                <a:tc>
                  <a:txBody>
                    <a:bodyPr/>
                    <a:lstStyle/>
                    <a:p>
                      <a:pPr algn="l" defTabSz="457200"/>
                      <a:r>
                        <a:rPr sz="3500"/>
                        <a:t>Tesco</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E0CCCA"/>
                    </a:solidFill>
                  </a:tcPr>
                </a:tc>
              </a:tr>
            </a:tbl>
          </a:graphicData>
        </a:graphic>
      </p:graphicFrame>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